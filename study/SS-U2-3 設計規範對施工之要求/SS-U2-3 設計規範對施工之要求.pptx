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image" Target="../media/image-26-13.png"/><Relationship Id="rId14" Type="http://schemas.openxmlformats.org/officeDocument/2006/relationships/image" Target="../media/image-26-14.png"/><Relationship Id="rId15" Type="http://schemas.openxmlformats.org/officeDocument/2006/relationships/image" Target="../media/image-26-15.png"/><Relationship Id="rId16" Type="http://schemas.openxmlformats.org/officeDocument/2006/relationships/image" Target="../media/image-26-16.png"/><Relationship Id="rId17" Type="http://schemas.openxmlformats.org/officeDocument/2006/relationships/image" Target="../media/image-26-17.png"/><Relationship Id="rId18" Type="http://schemas.openxmlformats.org/officeDocument/2006/relationships/image" Target="../media/image-26-18.png"/><Relationship Id="rId19" Type="http://schemas.openxmlformats.org/officeDocument/2006/relationships/image" Target="../media/image-26-19.png"/><Relationship Id="rId20" Type="http://schemas.openxmlformats.org/officeDocument/2006/relationships/image" Target="../media/image-26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SS-U2-3 · 鋼結構設計｜觀念講義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設計規範對施工之要求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不是背法規條文 —— 全篇只有一個對立關係：設計假設 ←→ 施工實況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1572768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說明題主力單元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鋼結構設計「設計規範對施工之要求」觀念講義｜原理 · 公式 · 向量圖解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本單元的四個區塊，問的都是同一件事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一、銲接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熱影響區、氫致冷裂、層狀撕裂、銲腳與回銲、非破壞檢測 —— 佔本單元最大篇幅。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816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二、高拉力螺栓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預拉力為什麼定在 0.7Fu、為什麼不能重複使用、摩阻面為什麼嚴禁塗裝。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三、防蝕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油漆是純物理屏障，熱浸鍍鋅多了犧牲陽極；以及哪些部位不予塗裝。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四、耐震加嚴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28816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節點域最小厚度、材料強度上限與降伏比、CVN 韌性 —— 全是容量設計的延伸。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為什麼前四單元不用管這些，本單元卻要？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figs/u23-fig-1-assumption-vs-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18848"/>
            <a:ext cx="6501384" cy="37347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U1-1~U1-4 算的是「理想的鋼」：均質、無缺陷、Fy 固定、斷面永遠不變。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U2-3 管的是「工地真的做出來的那根鋼」：有 HAZ、氫致冷裂、殘留應力、油污與腐蝕。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所有施工規範都在回答同一個問題：這道工序會讓實物偏離設計假設多少？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以及：要用什麼手段把偏離量壓回容許範圍內？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掌握這個主軸，就不必死背條文 —— 任何一條規定都能反推出它在擋哪一種偏離。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SOLVING FRAMEWORK · 解題骨架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進考場的第一個動作：把答案切成三道防線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figs/u23-fig-2-three-li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0101" y="1892808"/>
            <a:ext cx="8081319" cy="39867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歷屆閱卷給分幾乎都是「名稱一半、理由一半」。先寫物理機制，再按事前／事中／事後開架構，想不到細節時逐格自問「這一關要管什麼」，通常能補回一到兩個得分點。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銲接（一）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填角銲設計強度：兩個常數都不用背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設計強度（LRFD，銲道剪力破壞）</a:t>
            </a:r>
            <a:endParaRPr lang="en-US" sz="1300" dirty="0"/>
          </a:p>
        </p:txBody>
      </p:sp>
      <p:pic>
        <p:nvPicPr>
          <p:cNvPr id="7" name="Image 0" descr="formula_imgs/f_w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6014" y="1847088"/>
            <a:ext cx="7392692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0.707 是幾何常數 —— 等腰直角三角形的最短破壞面</a:t>
            </a:r>
            <a:endParaRPr lang="en-US" sz="1300" dirty="0"/>
          </a:p>
        </p:txBody>
      </p:sp>
      <p:pic>
        <p:nvPicPr>
          <p:cNvPr id="11" name="Image 1" descr="formula_imgs/f_thro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335" y="2962656"/>
            <a:ext cx="3894051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0.6 是剪切降伏常數 —— von Mises 準則取整</a:t>
            </a:r>
            <a:endParaRPr lang="en-US" sz="1300" dirty="0"/>
          </a:p>
        </p:txBody>
      </p:sp>
      <p:pic>
        <p:nvPicPr>
          <p:cNvPr id="15" name="Image 2" descr="formula_imgs/f_v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6158" y="4078224"/>
            <a:ext cx="3232404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考場速算尺：E70、w = 8 mm 時的單位銲長強度</a:t>
            </a:r>
            <a:endParaRPr lang="en-US" sz="1300" dirty="0"/>
          </a:p>
        </p:txBody>
      </p:sp>
      <p:pic>
        <p:nvPicPr>
          <p:cNvPr id="19" name="Image 3" descr="formula_imgs/f_w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1005" y="5193792"/>
            <a:ext cx="5402709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銲喉 te 是從銲根量到斜邊的垂線，不是銲腳 w；有效銲長要扣除起弧與熄弧的不良段。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0.707 從哪裡來？——從一個等腰直角三角形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u23-fig-3-fillet-thro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847" y="1892808"/>
            <a:ext cx="6401307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等腳填角銲的斷面是等腰直角三角形，最短的那條路徑就是破壞面。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銲喉 te = w·sin45° = w/1.414 = 0.707w，純幾何，與材料無關。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0.6 來自 von Mises：純剪的降伏應力是拉力降伏的 0.577 倍，規範取整為 0.6。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先記住「w = 8 mm 約 1.25 kN/mm」，就能立刻檢查答案有沒有錯一個數量級。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物理機制（一）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銲接熱的第一個後果：熱影響區為什麼最脆弱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figs/u23-fig-4-ha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132" y="1892808"/>
            <a:ext cx="5742736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銲接＝局部熔化再急速抽冷；離銲道最近的一圈沒熔化，卻被熱改變了組織。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過熱區晶粒粗大化、韌性最低，是破壞的主要起裂點 —— 不是銲道中心。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所以換銲材救不了 HAZ：銲材只決定銲著金屬，溫度歷程才決定 HAZ。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規範用 CVN（SN490B：0°C 下 ≥ 27 J）來管這件事，強度合格不代表韌性合格。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這也解釋了為什麼後面所有對策都繞著「溫度」打轉：預熱、層間溫度、後熱。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物理機制（二）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氫致冷裂三要素：為什麼預熱是最高 CP 值的一招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figs/u23-fig-5-h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132" y="1892808"/>
            <a:ext cx="5742736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冷裂三要素：氫源（濕氣／油污）＋ 高拉應力（殘留應力／拘束度）＋ 敏感組織（高 CE 的麻田散鐵）。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三者缺一不可，所以破壞任一個都能防裂 —— 這是答題的結構。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預熱一招同時削弱三者：降低冷卻速率、延長氫擴散時間、縮小溫度梯度。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低氫銲條的雙溫陷阱：烘乾 300~350°C 趕水分，保溫筒 100~150°C 防再吸濕。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冷裂是延遲裂縫（Delayed Cracking），常在銲後數小時到數天才出現 —— 所以規範會要求銲後延遲一段時間再做 UT。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KNOWLEDGE CARD · 施工溫度管制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銲接溫度管制：四個數字群，各管一件事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55778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管制項目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數值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它在擋什麼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低氫銲條烘乾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300 ~ 350°C（1 ~ 2 小時）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趕走銲條塗料中既有的水分 —— 切斷氫源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保溫筒（攜行）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100 ~ 150°C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領出後隨身保溫，防止在工地再度吸濕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預熱（依較厚板厚）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t ≤ 19：10°C；~38：65°C；~65：110°C；再厚：150°C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降低冷卻速率、延長氫擴散、縮小溫度梯度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最低層間溫度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等於該厚度的預熱溫度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多層銲時每一道都要維持，不能只預熱第一道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最高層間溫度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不得超過 350°C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過高會讓晶粒持續粗化，韌性反而下降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後熱／消除應力退火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銲後立即保溫或 PWHT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讓殘留氫繼續逸出、鬆弛殘留應力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銲接（二）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碳當量：判斷這塊鋼「好不好銲」的單一指標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IIW 碳當量 —— 把各合金元素折算成等效含碳量</a:t>
            </a:r>
            <a:endParaRPr lang="en-US" sz="1300" dirty="0"/>
          </a:p>
        </p:txBody>
      </p:sp>
      <p:pic>
        <p:nvPicPr>
          <p:cNvPr id="7" name="Image 0" descr="formula_imgs/f_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8525" y="1847088"/>
            <a:ext cx="7667669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SN490B 的規範上限</a:t>
            </a:r>
            <a:endParaRPr lang="en-US" sz="1300" dirty="0"/>
          </a:p>
        </p:txBody>
      </p:sp>
      <p:pic>
        <p:nvPicPr>
          <p:cNvPr id="11" name="Image 1" descr="formula_imgs/f_celi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3206" y="3334512"/>
            <a:ext cx="6178309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預熱在物理上做了三件事</a:t>
            </a:r>
            <a:endParaRPr lang="en-US" sz="1300" dirty="0"/>
          </a:p>
        </p:txBody>
      </p:sp>
      <p:pic>
        <p:nvPicPr>
          <p:cNvPr id="15" name="Image 2" descr="formula_imgs/f_prehe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4955844"/>
            <a:ext cx="7772400" cy="65268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CE 愈高愈容易生成麻田散鐵（冷裂三要素中的「敏感組織」），所需預熱溫度也愈高。薄板低合金鋼可用 Pcm（銲接裂縫敏感性組成）取代 CE。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物理機制（三）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層狀撕裂：唯一一種「換銲材完全沒用」的破壞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figs/u23-fig-6-lamel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132" y="1892808"/>
            <a:ext cx="5742736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鋼板是軋出來的：夾雜物被壓扁成平行板面的弱面，板厚（Z）方向最弱。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型接頭在 Z 向受拉（銲道收縮 ＋ 外力）時，沿弱面呈階梯狀撕裂。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撕裂發生在母材而非銲道 —— 所以換高強度銲條、加大銲腳都無效，甚至更糟。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唯一有效的是換鋼材：SN-C 級（Z 向斷面收縮率 RA ≥ 25%），並降低接頭拘束度。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箱型柱內橫隔板等 Z 向受拉接合，板厚 t ≥ 40 mm 時規範要求採用 C 級鋼材。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銲接（三）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銲腳與回銲：三個都是用「幾何」在管冶金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最小銲腳（依較厚板厚）—— 防止厚板抽熱過快</a:t>
            </a:r>
            <a:endParaRPr lang="en-US" sz="1300" dirty="0"/>
          </a:p>
        </p:txBody>
      </p:sp>
      <p:pic>
        <p:nvPicPr>
          <p:cNvPr id="7" name="Image 0" descr="formula_imgs/f_wm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082236"/>
            <a:ext cx="7772400" cy="4502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最大銲腳 —— 防止熔蝕板緣、削弱母材</a:t>
            </a:r>
            <a:endParaRPr lang="en-US" sz="1300" dirty="0"/>
          </a:p>
        </p:txBody>
      </p:sp>
      <p:pic>
        <p:nvPicPr>
          <p:cNvPr id="11" name="Image 1" descr="formula_imgs/f_wma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3560855"/>
            <a:ext cx="7772400" cy="467811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回銲長度（上下限皆為規範明訂）</a:t>
            </a:r>
            <a:endParaRPr lang="en-US" sz="1300" dirty="0"/>
          </a:p>
        </p:txBody>
      </p:sp>
      <p:pic>
        <p:nvPicPr>
          <p:cNvPr id="15" name="Image 2" descr="formula_imgs/f_retu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652" y="4821936"/>
            <a:ext cx="5113416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回銲的例外一定要寫出來：需保持轉動撓性的接頭（簡支梁雙角鋼的外伸肢）嚴禁回銲，否則等於把鉸接焊成剛接，端部反而被迫承受彎矩而拉裂。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上限與下限的理由，剛好完全相反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figs/u23-fig-7-weld-siz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847" y="1892808"/>
            <a:ext cx="6401307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下限（最小銲腳）：銲道太小而母材太厚時，厚板像散熱片把熱抽走 → 急冷 → 冷裂。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上限（最大銲腳）：銲腳頂到板緣會熔蝕母材，反而把斷面削弱，故 t ≥ 6 mm 時取 t − 2 mm。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回銲把起弧缺陷與端部應力尖峰移離受力位置，長度 2w ~ 4w。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例外：需保持轉動撓性者嚴禁回銲 —— 這一條最常被漏掉。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驗收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NDT 不用背表：位置 × 形狀 的 2×2 決策矩陣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figs/u23-fig-8-ndt-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07410"/>
            <a:ext cx="6501384" cy="37575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先問「缺陷在表面還是內部」，再問「形狀是扁平（面積型）還是圓胖（體積型）」。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表面＋面積型 → MT（鐵磁性鋼材靈敏度最高）；非磁性材（不鏽鋼）改用 PT。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內部＋面積型 → UT：聲波遇扁平缺陷大面積反射，對未熔合與裂縫最靈敏。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內部＋體積型 → RT：射線穿透量隨密度差變化，對氣孔、夾渣最清楚。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VT 目視是所有銲道的無條件基線；CJP 與耐震梁柱接頭最怕內部面積型缺陷，所以規範指定 100% UT 全數檢測，不是抽驗。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KNOWLEDGE CARD · 對照表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五種非破壞檢測：一頁講完差異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3749040"/>
                <a:gridCol w="2834640"/>
                <a:gridCol w="31089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方法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原理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最擅長抓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限制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VT 目視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肉眼 ＋ 銲道量規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銲腳、餘高、咬邊、外觀氣孔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只看得到表面外觀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MT 磁粉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磁力線遇裂縫外漏，磁粉聚集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表面與近表面裂縫（靈敏度最高）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僅適用鐵磁性材料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PT 液滲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毛細滲入後顯像劑吸出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表面開口缺陷（非磁性材適用）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缺陷未開口則檢不到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UT 超音波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聲波在缺陷界面反射，量回波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內部未熔合、未滲透、裂縫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需受訓人員判讀，結果不易存證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RT 放射線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射線穿透量隨密度差 → 底片黑影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內部氣孔、夾渣（體積型）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扁平裂縫方向不利時可能漏檢；輻射安全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高拉力螺栓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預拉力與摩阻型強度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最小預拉力 —— 剛好落在降伏邊緣的塑性平台上</a:t>
            </a:r>
            <a:endParaRPr lang="en-US" sz="1300" dirty="0"/>
          </a:p>
        </p:txBody>
      </p:sp>
      <p:pic>
        <p:nvPicPr>
          <p:cNvPr id="7" name="Image 0" descr="formula_imgs/f_t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623" y="1847088"/>
            <a:ext cx="4205475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摩阻型（Slip-critical）設計滑動強度</a:t>
            </a:r>
            <a:endParaRPr lang="en-US" sz="1300" dirty="0"/>
          </a:p>
        </p:txBody>
      </p:sp>
      <p:pic>
        <p:nvPicPr>
          <p:cNvPr id="11" name="Image 1" descr="formula_imgs/f_sl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700" y="2962656"/>
            <a:ext cx="3903320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承壓型的孔壁承壓強度（傳力機制完全不同）</a:t>
            </a:r>
            <a:endParaRPr lang="en-US" sz="1300" dirty="0"/>
          </a:p>
        </p:txBody>
      </p:sp>
      <p:pic>
        <p:nvPicPr>
          <p:cNvPr id="15" name="Image 2" descr="formula_imgs/f_be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4049" y="4078224"/>
            <a:ext cx="5516622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扭矩法的換算式 —— K 值是經驗係數，受潤滑與螺紋狀態影響</a:t>
            </a:r>
            <a:endParaRPr lang="en-US" sz="1300" dirty="0"/>
          </a:p>
        </p:txBody>
      </p:sp>
      <p:pic>
        <p:nvPicPr>
          <p:cNvPr id="19" name="Image 3" descr="formula_imgs/f_torqu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013" y="5193792"/>
            <a:ext cx="1870693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Du = 1.13（實際預拉力對規定值的比值）、hsc 為孔形係數（標準孔 = 1.0）、ns 為摩擦面數。μ 依表面處理分級：Class A 約 0.33、Class B（噴砂）約 0.50。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為什麼預拉力定在 0.7Fu？為什麼螺栓不能重複使用？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figs/u23-fig-9-bolt-preten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132" y="1892808"/>
            <a:ext cx="5742736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A325 的 0.7Fu 約等於 0.88Fy —— 剛好踩在降伏邊緣的塑性平台上。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在平台上多轉一點角度，軸力增加有限、不致拉斷 → 這就是轉角法能成立的物理理由。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鎖過一次的螺栓已產生永久塑性伸長：扭矩係數 K 與轉角法起算點雙雙失準。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結果是二次夾緊力不可控 → 摩擦力這個設計假設整個失效，故規範一律禁止重複使用。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答「重複使用會失去預拉力」只講了一半，要寫出「已塑性伸長 → 兩種鎖固法的起算點都失準」。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摩阻面為什麼嚴禁塗裝？——強度直接正比於 μ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figs/u23-fig-10-sl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132" y="1892808"/>
            <a:ext cx="5742736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摩阻型靠「夾緊力 × 滑動係數」傳力，表面狀態就是強度本身。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承壓型已容許滑動、改由螺栓桿承壓與剪力傳力，表面狀態不影響強度。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油漆使 μ 從 Class A 的 0.33 掉到 0.15 上下，設計滑動強度直接砍半以上。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另一個常考的不塗裝範圍：工地銲接處，相鄰兩側各 100 mm 不予塗裝。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μ 的數值各版規範略有差異，答題重點是「正比關係」與「規範禁止未經認證的塗裝面」，不是背小數點。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SOLUTION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高拉力螺栓施工題：先判連接型式，再判表面狀態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27632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27632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讀題：這個接合是摩阻型（Slip-critical）還是承壓型（Bearing）？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60720" y="2139696"/>
            <a:ext cx="0" cy="146304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14800" y="2286000"/>
            <a:ext cx="3291840" cy="777240"/>
          </a:xfrm>
          <a:prstGeom prst="diamond">
            <a:avLst/>
          </a:prstGeom>
          <a:solidFill>
            <a:srgbClr val="1B2A41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2340864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接合允不允許滑動？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3063240"/>
            <a:ext cx="-2532888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91356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991356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不允許（摩阻型）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355848"/>
            <a:ext cx="4809744" cy="1389888"/>
          </a:xfrm>
          <a:prstGeom prst="roundRect">
            <a:avLst>
              <a:gd name="adj" fmla="val 4605"/>
            </a:avLst>
          </a:prstGeom>
          <a:solidFill>
            <a:srgbClr val="DCE6F0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" y="3355848"/>
            <a:ext cx="455371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表面狀態＝強度本身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摩阻面嚴禁塗裝、嚴禁有油污與浮銹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需管制 μ 的分級（Class A／B）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3063240"/>
            <a:ext cx="2532888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24244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24244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允許（承壓型）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88736" y="3355848"/>
            <a:ext cx="4809744" cy="1389888"/>
          </a:xfrm>
          <a:prstGeom prst="roundRect">
            <a:avLst>
              <a:gd name="adj" fmla="val 4605"/>
            </a:avLst>
          </a:prstGeom>
          <a:solidFill>
            <a:srgbClr val="DCE6F0"/>
          </a:solidFill>
          <a:ln/>
        </p:spPr>
      </p:sp>
      <p:sp>
        <p:nvSpPr>
          <p:cNvPr id="18" name="Text 16"/>
          <p:cNvSpPr/>
          <p:nvPr/>
        </p:nvSpPr>
        <p:spPr>
          <a:xfrm>
            <a:off x="6016752" y="3355848"/>
            <a:ext cx="455371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改由螺栓桿承壓與剪力傳力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表面狀態不影響強度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但仍需鎖到規定預拉力以防鬆脫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27832" y="4745736"/>
            <a:ext cx="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93608" y="4745736"/>
            <a:ext cx="-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2960" y="5001768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E8734A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001768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兩者共同的紅線：螺栓一律不得重複使用（已永久塑性伸長）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22960" y="609904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考場常見的三個情境：重複使用、摩阻面誤塗裝、用普通扳手取代扭矩扳手 —— 三者破壞的都是同一個假設：夾緊力可控。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物理機制（四）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防蝕：油漆與鍍鋅的差別，在「膜破掉之後」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figs/u23-fig-11-corro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132" y="1892808"/>
            <a:ext cx="5742736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腐蝕是一顆自然形成的原電池：陽極 ＋ 陰極 ＋ 電解液 ＋ 導電迴路，缺一不可。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油漆是純物理屏障，把電解液隔開；膜一破，保護立刻歸零。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熱浸鍍鋅除了屏障，還多了犧牲陽極：鋅 −0.76 V 比鐵 −0.44 V 更負，鋅優先溶解。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所以鍍鋅層有「保護半徑」——就算被劃傷，半徑內的鋼材依然不生鏽。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施工細節：高拉力螺栓摩阻面、工地銲接處相鄰兩側各 100 mm 不予塗裝，作業完成後再補塗。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KNOWLEDGE CARD · 對照表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油漆塗裝 vs 熱浸鍍鋅</a:t>
            </a:r>
            <a:endParaRPr lang="en-US" sz="2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89120"/>
                <a:gridCol w="448056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比較項目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油漆塗裝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熱浸鍍鋅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保護機制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純物理屏障（隔絕電解液）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物理屏障 ＋ 犧牲陽極電化學保護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膜被劃傷後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保護歸零，鏽由傷口往塗層下鑽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保護半徑內鋼材仍不生鏽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施工溫度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常溫，可現場施作與補漆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約 450°C 熔鋅槽，需工廠浸鍍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尺寸與變形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不受限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受鋅槽尺寸限制；高溫可能造成翹曲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對銲接的影響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銲道兩側各 100 mm 不予塗裝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鍍鋅層銲接會產生鋅蒸氣與氣孔，需先去除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維護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需定期重塗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壽命長，維護需求低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耐震加嚴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耐震構材：連「材料不准太強」都要管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節點域腹板最小厚度（防剪力挫屈的寬厚比門檻）</a:t>
            </a:r>
            <a:endParaRPr lang="en-US" sz="1300" dirty="0"/>
          </a:p>
        </p:txBody>
      </p:sp>
      <p:pic>
        <p:nvPicPr>
          <p:cNvPr id="7" name="Image 0" descr="formula_imgs/f_t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53483" y="1847088"/>
            <a:ext cx="797754" cy="32552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584094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584094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657246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其中 dz、wz 的量法</a:t>
            </a:r>
            <a:endParaRPr lang="en-US" sz="1300" dirty="0"/>
          </a:p>
        </p:txBody>
      </p:sp>
      <p:pic>
        <p:nvPicPr>
          <p:cNvPr id="11" name="Image 1" descr="formula_imgs/f_tzde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4718" y="2739542"/>
            <a:ext cx="3975284" cy="32552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476549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476549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549701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降伏比上限 —— 確保降伏後還有加工硬化的行程</a:t>
            </a:r>
            <a:endParaRPr lang="en-US" sz="1300" dirty="0"/>
          </a:p>
        </p:txBody>
      </p:sp>
      <p:pic>
        <p:nvPicPr>
          <p:cNvPr id="15" name="Image 2" descr="formula_imgs/f_y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7657" y="3631997"/>
            <a:ext cx="669406" cy="325526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4369003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4369003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4442155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母材衝擊韌性（SN490B）</a:t>
            </a:r>
            <a:endParaRPr lang="en-US" sz="1300" dirty="0"/>
          </a:p>
        </p:txBody>
      </p:sp>
      <p:pic>
        <p:nvPicPr>
          <p:cNvPr id="19" name="Image 3" descr="formula_imgs/f_cv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096" y="4524451"/>
            <a:ext cx="2162528" cy="32552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48640" y="5261458"/>
            <a:ext cx="11064240" cy="636422"/>
          </a:xfrm>
          <a:prstGeom prst="roundRect">
            <a:avLst>
              <a:gd name="adj" fmla="val 11494"/>
            </a:avLst>
          </a:prstGeom>
          <a:solidFill>
            <a:srgbClr val="DCE6F0"/>
          </a:solidFill>
          <a:ln/>
        </p:spPr>
      </p:sp>
      <p:sp>
        <p:nvSpPr>
          <p:cNvPr id="21" name="Shape 15"/>
          <p:cNvSpPr/>
          <p:nvPr/>
        </p:nvSpPr>
        <p:spPr>
          <a:xfrm>
            <a:off x="548640" y="5261458"/>
            <a:ext cx="82296" cy="63642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868680" y="5334610"/>
            <a:ext cx="2743200" cy="4901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板厚方向斷面收縮率（SN-C 級）</a:t>
            </a:r>
            <a:endParaRPr lang="en-US" sz="1300" dirty="0"/>
          </a:p>
        </p:txBody>
      </p:sp>
      <p:pic>
        <p:nvPicPr>
          <p:cNvPr id="23" name="Image 4" descr="formula_imgs/f_r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0605" y="5416906"/>
            <a:ext cx="2223511" cy="32552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一般構材只管強度下限；耐震構材連上限、降伏比、韌性都要管 —— 這是本單元最違反直覺的一條。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節點域公式裡的 90 是什麼？——一個寬厚比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figs/u23-fig-12-panel-z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132" y="1892808"/>
            <a:ext cx="5742736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節點域是耐震設計裡刻意讓它降伏、以剪力降伏耗能的元件。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腹板夠厚 → 剪力降伏：滯迴飽滿、有延性、可反覆耗能。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腹板過薄 → 剪力挫屈：滯迴捏縮、幾乎不耗能，是無延性的穩定性破壞。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所以分母 90 不是經驗係數，而是把破壞模式從「挫屈」逼回「降伏」的幾何門檻。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腹板厚度不足時的標準對策是加設加勁板（doubler plate）補厚，而不是放寬檢核。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物理機制（五）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容量設計：為什麼「材料變強」反而讓結構變脆？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figs/u23-fig-13-capacity-de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018848"/>
            <a:ext cx="6501384" cy="37347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容量設計要求塑鉸只能長在梁端 —— 強柱弱梁，柱與接頭始終保持彈性。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若梁鋼材實際 Fy 過高，梁不肯降伏，力量會被推向沒有延性儲備的柱與接頭銲道。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 SN 鋼材同時管制 Fy 的上限，而不只是下限。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降伏比 Fy/Fu ≤ 0.80 則確保降伏之後還有足夠的加工硬化行程可走。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Fy 上限、降伏比、CVN 韌性、Z 向收縮率 —— SN 鋼材的四項要求，都是為了讓「延性」這個假設成立。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SOLUTION FLOW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流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實戰解題流：施工說明題怎麼開架構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先判題型，再套三道防線，最後補上物理機制與數值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SS · U2-3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施工說明題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題目問「怎麼做」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還是「為什麼不行」？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3" name="Text 11"/>
          <p:cNvSpPr/>
          <p:nvPr/>
        </p:nvSpPr>
        <p:spPr>
          <a:xfrm>
            <a:off x="5188306" y="1481328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怎麼做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套三道防線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78578" y="1933956"/>
            <a:ext cx="2031797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15" name="Text 13"/>
          <p:cNvSpPr/>
          <p:nvPr/>
        </p:nvSpPr>
        <p:spPr>
          <a:xfrm>
            <a:off x="5188306" y="1933956"/>
            <a:ext cx="1812341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為什麼不行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指出被破壞</a:t>
            </a:r>
            <a:endParaRPr lang="en-US" sz="11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的設計假設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6406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7494422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定位工序：銲接／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螺栓／防蝕／耐震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寫物理機制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（因果鏈）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654235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9782251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事前：材料等級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CE、銲條烘乾、WPS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3" name="Text 21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事中：預熱／層間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銲腳、回銲、不塗裝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078578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5" name="Text 23"/>
          <p:cNvSpPr/>
          <p:nvPr/>
        </p:nvSpPr>
        <p:spPr>
          <a:xfrm>
            <a:off x="5206594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事後：VT → MT／PT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UT／RT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90749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7" name="Text 25"/>
          <p:cNvSpPr/>
          <p:nvPr/>
        </p:nvSpPr>
        <p:spPr>
          <a:xfrm>
            <a:off x="2918765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補上規範數值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（雙溫、2w~4w…）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數值有沒有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寫完整？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822546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822546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110374" y="1675638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110374" y="2128266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9398203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654235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366406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50785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2790749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518818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02920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43" name="Text 41"/>
          <p:cNvSpPr/>
          <p:nvPr/>
        </p:nvSpPr>
        <p:spPr>
          <a:xfrm>
            <a:off x="630936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名稱一半 ＋ 理由一半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＝ 滿分答案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2809037" y="4032504"/>
            <a:ext cx="8876995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991917" y="4032504"/>
            <a:ext cx="851123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「為什麼不行」的四個標準答法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指出被破壞的是哪一個設計假設：摩擦力（μ 或夾緊力）／斷面連續性（熔蝕、削弱）／韌性（HAZ、CVN）／荷重-變形相容性（把鉸接焊死）。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7" name="Text 45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交卷前的三個檢查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9" name="Text 47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機制寫了沒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只寫對策沒寫機制，通常只拿一半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1" name="Text 49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數值成對沒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烘乾＋保溫、2w＋4w、上限＋下限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3" name="Text 51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例外寫了沒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撓性接頭禁回銲、換銲材救不了層狀撕裂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設計規範對施工之要求｜全公式一頁速查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填角銲設計強度</a:t>
            </a:r>
            <a:endParaRPr lang="en-US" sz="1050" dirty="0"/>
          </a:p>
        </p:txBody>
      </p:sp>
      <p:pic>
        <p:nvPicPr>
          <p:cNvPr id="7" name="Image 0" descr="formula_imgs/f_w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043766"/>
            <a:ext cx="2462022" cy="18271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21558" y="1554480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3321558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3431286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銲喉（幾何）</a:t>
            </a:r>
            <a:endParaRPr lang="en-US" sz="1050" dirty="0"/>
          </a:p>
        </p:txBody>
      </p:sp>
      <p:pic>
        <p:nvPicPr>
          <p:cNvPr id="11" name="Image 1" descr="formula_imgs/f_thro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286" y="1961685"/>
            <a:ext cx="2462022" cy="34687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85916" y="1554480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6185916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6295644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0.6 的來源</a:t>
            </a:r>
            <a:endParaRPr lang="en-US" sz="1050" dirty="0"/>
          </a:p>
        </p:txBody>
      </p:sp>
      <p:pic>
        <p:nvPicPr>
          <p:cNvPr id="15" name="Image 2" descr="formula_imgs/f_v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8377" y="1938528"/>
            <a:ext cx="2316556" cy="39319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50274" y="1554480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9050274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9160002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考場速算基準</a:t>
            </a:r>
            <a:endParaRPr lang="en-US" sz="1050" dirty="0"/>
          </a:p>
        </p:txBody>
      </p:sp>
      <p:pic>
        <p:nvPicPr>
          <p:cNvPr id="19" name="Image 3" descr="formula_imgs/f_w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0002" y="2010116"/>
            <a:ext cx="2462022" cy="25001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2587752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2587752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2679192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最小銲腳</a:t>
            </a:r>
            <a:endParaRPr lang="en-US" sz="1050" dirty="0"/>
          </a:p>
        </p:txBody>
      </p:sp>
      <p:pic>
        <p:nvPicPr>
          <p:cNvPr id="23" name="Image 4" descr="formula_imgs/f_wmi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097092"/>
            <a:ext cx="2462022" cy="142608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21558" y="2587752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3321558" y="2587752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3431286" y="2679192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最大銲腳</a:t>
            </a:r>
            <a:endParaRPr lang="en-US" sz="1050" dirty="0"/>
          </a:p>
        </p:txBody>
      </p:sp>
      <p:pic>
        <p:nvPicPr>
          <p:cNvPr id="27" name="Image 5" descr="formula_imgs/f_wmax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1286" y="3094303"/>
            <a:ext cx="2462022" cy="148186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85916" y="2587752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6185916" y="2587752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6295644" y="2679192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回銲長度</a:t>
            </a:r>
            <a:endParaRPr lang="en-US" sz="1050" dirty="0"/>
          </a:p>
        </p:txBody>
      </p:sp>
      <p:pic>
        <p:nvPicPr>
          <p:cNvPr id="31" name="Image 6" descr="formula_imgs/f_return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4551" y="2971800"/>
            <a:ext cx="2184208" cy="393192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50274" y="2587752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9050274" y="2587752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9160002" y="2679192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碳當量 CE</a:t>
            </a:r>
            <a:endParaRPr lang="en-US" sz="1050" dirty="0"/>
          </a:p>
        </p:txBody>
      </p:sp>
      <p:pic>
        <p:nvPicPr>
          <p:cNvPr id="35" name="Image 7" descr="formula_imgs/f_c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0002" y="3020614"/>
            <a:ext cx="2462022" cy="295563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57200" y="3621024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457200" y="3621024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566928" y="3712464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CE 上限</a:t>
            </a:r>
            <a:endParaRPr lang="en-US" sz="1050" dirty="0"/>
          </a:p>
        </p:txBody>
      </p:sp>
      <p:pic>
        <p:nvPicPr>
          <p:cNvPr id="39" name="Image 8" descr="formula_imgs/f_celim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4018262"/>
            <a:ext cx="2462022" cy="366813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21558" y="3621024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3321558" y="3621024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3431286" y="3712464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預熱的三個作用</a:t>
            </a:r>
            <a:endParaRPr lang="en-US" sz="1050" dirty="0"/>
          </a:p>
        </p:txBody>
      </p:sp>
      <p:pic>
        <p:nvPicPr>
          <p:cNvPr id="43" name="Image 9" descr="formula_imgs/f_preheat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1286" y="4098295"/>
            <a:ext cx="2462022" cy="206746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85916" y="3621024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6185916" y="3621024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6295644" y="3712464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衝擊韌性</a:t>
            </a:r>
            <a:endParaRPr lang="en-US" sz="1050" dirty="0"/>
          </a:p>
        </p:txBody>
      </p:sp>
      <p:pic>
        <p:nvPicPr>
          <p:cNvPr id="47" name="Image 10" descr="formula_imgs/f_cvn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5644" y="4016363"/>
            <a:ext cx="2462022" cy="370609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50274" y="3621024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9050274" y="3621024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9160002" y="3712464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 向收縮率</a:t>
            </a:r>
            <a:endParaRPr lang="en-US" sz="1050" dirty="0"/>
          </a:p>
        </p:txBody>
      </p:sp>
      <p:pic>
        <p:nvPicPr>
          <p:cNvPr id="51" name="Image 11" descr="formula_imgs/f_ra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60002" y="4021446"/>
            <a:ext cx="2462022" cy="360445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4654296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4654296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4745736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螺栓最小預拉力</a:t>
            </a:r>
            <a:endParaRPr lang="en-US" sz="1050" dirty="0"/>
          </a:p>
        </p:txBody>
      </p:sp>
      <p:pic>
        <p:nvPicPr>
          <p:cNvPr id="55" name="Image 12" descr="formula_imgs/f_tb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928" y="5074344"/>
            <a:ext cx="2462022" cy="321192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21558" y="4654296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3321558" y="4654296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3431286" y="4745736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摩阻型強度</a:t>
            </a:r>
            <a:endParaRPr lang="en-US" sz="1050" dirty="0"/>
          </a:p>
        </p:txBody>
      </p:sp>
      <p:pic>
        <p:nvPicPr>
          <p:cNvPr id="59" name="Image 13" descr="formula_imgs/f_slip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31286" y="5061912"/>
            <a:ext cx="2462022" cy="346055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85916" y="4654296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6185916" y="4654296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6295644" y="4745736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承壓型孔壁承壓</a:t>
            </a:r>
            <a:endParaRPr lang="en-US" sz="1050" dirty="0"/>
          </a:p>
        </p:txBody>
      </p:sp>
      <p:pic>
        <p:nvPicPr>
          <p:cNvPr id="63" name="Image 14" descr="formula_imgs/f_bea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95644" y="5112513"/>
            <a:ext cx="2462022" cy="244853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50274" y="4654296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65" name="Shape 48"/>
          <p:cNvSpPr/>
          <p:nvPr/>
        </p:nvSpPr>
        <p:spPr>
          <a:xfrm>
            <a:off x="9050274" y="4654296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6" name="Text 49"/>
          <p:cNvSpPr/>
          <p:nvPr/>
        </p:nvSpPr>
        <p:spPr>
          <a:xfrm>
            <a:off x="9160002" y="4745736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扭矩法換算</a:t>
            </a:r>
            <a:endParaRPr lang="en-US" sz="1050" dirty="0"/>
          </a:p>
        </p:txBody>
      </p:sp>
      <p:pic>
        <p:nvPicPr>
          <p:cNvPr id="67" name="Image 15" descr="formula_imgs/f_torque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720681" y="5038344"/>
            <a:ext cx="1340663" cy="393192"/>
          </a:xfrm>
          <a:prstGeom prst="rect">
            <a:avLst/>
          </a:prstGeom>
        </p:spPr>
      </p:pic>
      <p:sp>
        <p:nvSpPr>
          <p:cNvPr id="68" name="Shape 50"/>
          <p:cNvSpPr/>
          <p:nvPr/>
        </p:nvSpPr>
        <p:spPr>
          <a:xfrm>
            <a:off x="457200" y="5687568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69" name="Shape 51"/>
          <p:cNvSpPr/>
          <p:nvPr/>
        </p:nvSpPr>
        <p:spPr>
          <a:xfrm>
            <a:off x="457200" y="5687568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70" name="Text 52"/>
          <p:cNvSpPr/>
          <p:nvPr/>
        </p:nvSpPr>
        <p:spPr>
          <a:xfrm>
            <a:off x="566928" y="5779008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節點域最小厚度</a:t>
            </a:r>
            <a:endParaRPr lang="en-US" sz="1050" dirty="0"/>
          </a:p>
        </p:txBody>
      </p:sp>
      <p:pic>
        <p:nvPicPr>
          <p:cNvPr id="71" name="Image 16" descr="formula_imgs/f_tz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316149" y="6071616"/>
            <a:ext cx="963579" cy="393192"/>
          </a:xfrm>
          <a:prstGeom prst="rect">
            <a:avLst/>
          </a:prstGeom>
        </p:spPr>
      </p:pic>
      <p:sp>
        <p:nvSpPr>
          <p:cNvPr id="72" name="Shape 53"/>
          <p:cNvSpPr/>
          <p:nvPr/>
        </p:nvSpPr>
        <p:spPr>
          <a:xfrm>
            <a:off x="3321558" y="5687568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73" name="Shape 54"/>
          <p:cNvSpPr/>
          <p:nvPr/>
        </p:nvSpPr>
        <p:spPr>
          <a:xfrm>
            <a:off x="3321558" y="5687568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74" name="Text 55"/>
          <p:cNvSpPr/>
          <p:nvPr/>
        </p:nvSpPr>
        <p:spPr>
          <a:xfrm>
            <a:off x="3431286" y="5779008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dz、wz 的量法</a:t>
            </a:r>
            <a:endParaRPr lang="en-US" sz="1050" dirty="0"/>
          </a:p>
        </p:txBody>
      </p:sp>
      <p:pic>
        <p:nvPicPr>
          <p:cNvPr id="75" name="Image 17" descr="formula_imgs/f_tzdef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31286" y="6167407"/>
            <a:ext cx="2462022" cy="201609"/>
          </a:xfrm>
          <a:prstGeom prst="rect">
            <a:avLst/>
          </a:prstGeom>
        </p:spPr>
      </p:pic>
      <p:sp>
        <p:nvSpPr>
          <p:cNvPr id="76" name="Shape 56"/>
          <p:cNvSpPr/>
          <p:nvPr/>
        </p:nvSpPr>
        <p:spPr>
          <a:xfrm>
            <a:off x="6185916" y="5687568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77" name="Shape 57"/>
          <p:cNvSpPr/>
          <p:nvPr/>
        </p:nvSpPr>
        <p:spPr>
          <a:xfrm>
            <a:off x="6185916" y="5687568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78" name="Text 58"/>
          <p:cNvSpPr/>
          <p:nvPr/>
        </p:nvSpPr>
        <p:spPr>
          <a:xfrm>
            <a:off x="6295644" y="5779008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降伏比上限</a:t>
            </a:r>
            <a:endParaRPr lang="en-US" sz="1050" dirty="0"/>
          </a:p>
        </p:txBody>
      </p:sp>
      <p:pic>
        <p:nvPicPr>
          <p:cNvPr id="79" name="Image 18" descr="formula_imgs/f_yr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122379" y="6071616"/>
            <a:ext cx="808552" cy="393192"/>
          </a:xfrm>
          <a:prstGeom prst="rect">
            <a:avLst/>
          </a:prstGeom>
        </p:spPr>
      </p:pic>
      <p:sp>
        <p:nvSpPr>
          <p:cNvPr id="80" name="Shape 59"/>
          <p:cNvSpPr/>
          <p:nvPr/>
        </p:nvSpPr>
        <p:spPr>
          <a:xfrm>
            <a:off x="9050274" y="5687568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81" name="Shape 60"/>
          <p:cNvSpPr/>
          <p:nvPr/>
        </p:nvSpPr>
        <p:spPr>
          <a:xfrm>
            <a:off x="9050274" y="5687568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82" name="Text 61"/>
          <p:cNvSpPr/>
          <p:nvPr/>
        </p:nvSpPr>
        <p:spPr>
          <a:xfrm>
            <a:off x="9160002" y="5779008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鋅與鐵的電位</a:t>
            </a:r>
            <a:endParaRPr lang="en-US" sz="1050" dirty="0"/>
          </a:p>
        </p:txBody>
      </p:sp>
      <p:pic>
        <p:nvPicPr>
          <p:cNvPr id="83" name="Image 19" descr="formula_imgs/f_emf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60002" y="6151924"/>
            <a:ext cx="2462022" cy="23257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高頻陷阱精選：這六個一定要在考場上想起來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層狀撕裂答「換高強度銲條」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撕裂發生在母材的軋延弱面，不在銲道，換銲材完全無效，加大銲腳還會提高拘束度。唯一有效的是採用 SN-C 級鋼材（Z 向斷面收縮率 RA ≥ 25%）並降低接頭拘束度。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低氫銲條只寫一個溫度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烘乾 300~350°C 是趕走既有水分，保溫筒 100~150°C 是領出後防止再吸濕，兩者目的不同、缺一不可。只寫一個通常只拿一半分數。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回銲只寫下限 2w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規範明訂 2w ≤ ℓ ≤ 4w，上下限都要寫。更常被漏掉的是例外：需保持轉動撓性的接頭（簡支梁雙角鋼外伸肢）嚴禁回銲，否則等於把鉸接焊死。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把 UT 和 RT 用反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UT 靠聲波反射，對扁平的面積型缺陷（未熔合、裂縫）最靈敏；RT 靠密度差，對圓胖的體積型缺陷（氣孔、夾渣）最清楚。CJP 與耐震接頭指定 100% UT，不是抽驗。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只答「預熱可防裂」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要寫出機制才有分：預熱同時降低冷卻速率（少生麻田散鐵）、延長高溫停留時間（讓氫擴散逸出）、縮小溫度梯度（降低殘留應力）—— 一招破壞冷裂三要素。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以為材料愈強愈安全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耐震構材反過來：梁的實際 Fy 過高會讓塑鉸跑到柱端與接頭銲道。所以 SN 鋼材同時管制 Fy 上限與降伏比 Fy/Fu ≤ 0.80，不只是管下限。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設計規範對施工之要求｜重點回顧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79853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798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全篇只有一個主軸：設計假設 ←→ 施工實況。每條規範都在把偏離量壓回容許範圍。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14919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34304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430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14919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萬用骨架＝三道防線：事前管輸入、事中管過程、事後管驗收；先寫機制再開架構。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12387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206240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012387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銲接的六大機制：HAZ 韌性谷底、氫致冷裂三要素、層狀撕裂、銲腳上下限、回銲、NDT 2×2。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875581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06943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0694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875581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螺栓的核心是「夾緊力可控」：0.7Fu 踩在塑性平台上、不得重複使用、摩阻面嚴禁塗裝。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73877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5932627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9326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573877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耐震加嚴全是容量設計的延伸：節點域 90 是寬厚比，Fy 上限與降伏比是為了保住延性。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考前總複習</dc:creator>
  <cp:lastModifiedBy>考前總複習</cp:lastModifiedBy>
  <cp:revision>1</cp:revision>
  <dcterms:created xsi:type="dcterms:W3CDTF">2026-09-14T14:35:14Z</dcterms:created>
  <dcterms:modified xsi:type="dcterms:W3CDTF">2026-09-14T14:35:14Z</dcterms:modified>
</cp:coreProperties>
</file>