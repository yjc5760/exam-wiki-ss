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image" Target="../media/image-29-7.png"/><Relationship Id="rId8" Type="http://schemas.openxmlformats.org/officeDocument/2006/relationships/image" Target="../media/image-29-8.png"/><Relationship Id="rId9" Type="http://schemas.openxmlformats.org/officeDocument/2006/relationships/image" Target="../media/image-29-9.png"/><Relationship Id="rId10" Type="http://schemas.openxmlformats.org/officeDocument/2006/relationships/image" Target="../media/image-29-10.png"/><Relationship Id="rId11" Type="http://schemas.openxmlformats.org/officeDocument/2006/relationships/image" Target="../media/image-29-11.png"/><Relationship Id="rId12" Type="http://schemas.openxmlformats.org/officeDocument/2006/relationships/image" Target="../media/image-29-12.png"/><Relationship Id="rId13" Type="http://schemas.openxmlformats.org/officeDocument/2006/relationships/image" Target="../media/image-29-13.png"/><Relationship Id="rId14" Type="http://schemas.openxmlformats.org/officeDocument/2006/relationships/image" Target="../media/image-29-14.png"/><Relationship Id="rId15" Type="http://schemas.openxmlformats.org/officeDocument/2006/relationships/image" Target="../media/image-29-15.png"/><Relationship Id="rId16" Type="http://schemas.openxmlformats.org/officeDocument/2006/relationships/image" Target="../media/image-29-16.png"/><Relationship Id="rId17" Type="http://schemas.openxmlformats.org/officeDocument/2006/relationships/image" Target="../media/image-29-17.png"/><Relationship Id="rId18" Type="http://schemas.openxmlformats.org/officeDocument/2006/relationships/image" Target="../media/image-29-18.png"/><Relationship Id="rId19" Type="http://schemas.openxmlformats.org/officeDocument/2006/relationships/image" Target="../media/image-29-19.png"/><Relationship Id="rId20" Type="http://schemas.openxmlformats.org/officeDocument/2006/relationships/image" Target="../media/image-29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png"/><Relationship Id="rId13" Type="http://schemas.openxmlformats.org/officeDocument/2006/relationships/image" Target="../media/image-30-13.png"/><Relationship Id="rId14" Type="http://schemas.openxmlformats.org/officeDocument/2006/relationships/image" Target="../media/image-30-14.png"/><Relationship Id="rId15" Type="http://schemas.openxmlformats.org/officeDocument/2006/relationships/image" Target="../media/image-30-15.png"/><Relationship Id="rId16" Type="http://schemas.openxmlformats.org/officeDocument/2006/relationships/image" Target="../media/image-3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SS-U1-4　鋼結構設計｜觀念講義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接合之分析與設計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不背幾十條公式，只抓一個本質（換手鏈）與兩把尺（0.6 與 Fy/Fu）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核心考點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SS-U1-4　接合之分析與設計｜觀念講義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本單元的四塊拼圖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一個本質：換手鏈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接合設計不是求一個斷面，而是求一整串破壞面後取最小值。第一步永遠是寫「極限狀態清單」。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兩把尺：公式生成器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尺一看受力型態（受剪乘 0.6、受拉不乘）；尺二看破壞機制（降伏用 Fy·Ag、斷裂用 Fu·Ae）。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三大關卡：母材 / 緊結物 / 偏心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母材端必驗 GSY、NSF、BSR；緊結物分螺栓與銲接兩個世界；有偏心就得用彈性向量法。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高頻陷阱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續接設計力、銲接仍有剪力遲滯、喉厚不是銲腳、塊狀剪力取 min 不是相加。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為什麼接合題總是「算了一堆最後取一個」？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img/d1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力量從母材 A 交到緊結物、再交到母材 B，每一次「換手」都對應一個破壞面。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整條鏈的強度 = 最弱那一環，所以答案永遠是 min，不是加總、也不是平均。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夾在中間的拼接板／續接板是最常被漏掉的一環，它自己也要驗 GSY、NSF、BSR。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先列清單、再代公式：清單漏一項，後面算得再精準都是錯的。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為什麼有的公式乘 0.6、有的不乘？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img/d2_two_rul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尺一（受力型態）：破壞面被「剪」就乘 0.6，這個 0.6 來自 von Mises 的 1/√3 ≈ 0.577。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尺二（破壞機制）：延性降伏用 Fy 配毛面積 Ag、φ=0.90；脆性斷裂用 Fu 配有效淨面積 Ae、φ=0.75。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兩把尺互相獨立，任意組合就生出規範裡的每一條式子 — 不必死背，考場可以現推。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接合區的極限狀態幾乎清一色是脆性破壞，所以 φ 大多是 0.75。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公式生成器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兩把尺的數學根據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尺一：純剪降伏強度（von Mises 畸變能準則）</a:t>
            </a:r>
            <a:endParaRPr lang="en-US" sz="1300" dirty="0"/>
          </a:p>
        </p:txBody>
      </p:sp>
      <p:pic>
        <p:nvPicPr>
          <p:cNvPr id="7" name="Image 0" descr="formula_imgs/c_v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1679" y="1847088"/>
            <a:ext cx="5001362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尺二 × 尺一：所有接合公式的通式</a:t>
            </a:r>
            <a:endParaRPr lang="en-US" sz="1300" dirty="0"/>
          </a:p>
        </p:txBody>
      </p:sp>
      <p:pic>
        <p:nvPicPr>
          <p:cNvPr id="11" name="Image 1" descr="formula_imgs/c_ru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27288"/>
            <a:ext cx="7772400" cy="73494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LRFD 設計不等式</a:t>
            </a:r>
            <a:endParaRPr lang="en-US" sz="1300" dirty="0"/>
          </a:p>
        </p:txBody>
      </p:sp>
      <p:pic>
        <p:nvPicPr>
          <p:cNvPr id="15" name="Image 2" descr="formula_imgs/c_lrf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835" y="4821936"/>
            <a:ext cx="7591051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0.6 只跟「這個面是不是被剪」有關，與用 Fy 或 Fu 無關；φ 則只跟破壞是延性還是脆性有關。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整體作答流程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拿到接合題，先走這三個決策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畫力量傳遞路徑，寫出「極限狀態清單」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緊結物是什麼？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4809744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4553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再問：摩阻型還是承壓型？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摩阻型 φ=1.0（滑動）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承壓型 φ=0.75（剪斷＋承壓）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355848"/>
            <a:ext cx="4809744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355848"/>
            <a:ext cx="4553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再問：填角銲還是開槽銲？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填角銲算喉部 te=0.707w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CJP 由母材控制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4745736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93608" y="4745736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5001768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001768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母材三項（GSY／NSF／BSR）一律要算，再與緊結物強度一起取 min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「續接」題另有陷阱：設計力要取（題給內力）與（構材強度之半）的大者。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同一片母材，為什麼要算三次？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img/d3_base_me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GSY 看的是「整段構材」，破壞面是全斷面 Ag，變形大有預警，所以 φ 可以放寬到 0.90。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NSF 看的是「孔的位置」，破壞面是淨斷面，突然撕裂沒有預警，φ 收緊到 0.75 並再乘 U。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BSR 看的是「整塊材料」，同時含剪面與拉面 — 只有剪面乘 0.6，拉面不乘。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母材極限狀態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母材端必驗的前兩項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全斷面降伏 GSY（延性、用毛面積）</a:t>
            </a:r>
            <a:endParaRPr lang="en-US" sz="1300" dirty="0"/>
          </a:p>
        </p:txBody>
      </p:sp>
      <p:pic>
        <p:nvPicPr>
          <p:cNvPr id="7" name="Image 0" descr="formula_imgs/c_gs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8616" y="1847088"/>
            <a:ext cx="4887487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淨斷面斷裂 NSF（脆性、用有效淨面積）</a:t>
            </a:r>
            <a:endParaRPr lang="en-US" sz="1300" dirty="0"/>
          </a:p>
        </p:txBody>
      </p:sp>
      <p:pic>
        <p:nvPicPr>
          <p:cNvPr id="11" name="Image 1" descr="formula_imgs/c_ns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05110"/>
            <a:ext cx="7772400" cy="7793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剪力遲滯係數（通式，任何斷面都適用）</a:t>
            </a:r>
            <a:endParaRPr lang="en-US" sz="1300" dirty="0"/>
          </a:p>
        </p:txBody>
      </p:sp>
      <p:pic>
        <p:nvPicPr>
          <p:cNvPr id="15" name="Image 2" descr="formula_imgs/c_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958" y="4821936"/>
            <a:ext cx="2438805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兩項都要算，取小者。Ae 之所以還要乘 U，是因為沒被連接的肢「出力慢半拍」。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剪力遲滯：x̄ 與 L 到底在量什麼？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img/d4_shear_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x̄ 是「形心到接觸面」的距離 — 外伸肢越胖、離接觸面越遠，折減越兇。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 是連接長度（最外排螺栓間距或銲縫長度）— 傳力距離越長，應力越有機會追上。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銲接沒有孔（An = Ag），但剪力遲滯照樣存在，仍須 Ae = U·Ag。這是最常被忘記的一項。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交錯孔：破壞線為什麼不只一條？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img/d5_net_s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直線路徑扣的孔少；鋸齒路徑扣的孔多，但每走一段斜線可以補回一次 s²/4g。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補回項的物理意義：斜段同時含剪與拉，沒有被完全「扣光」，所以還留有部分承載力。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所有可能路徑都要試，取淨寬最小者 — 不是憑直覺挑一條看起來最短的。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拼接板另有上限 An ≤ 0.85 Ag；角鋼要先展開成等值板寬再扣孔。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淨斷面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淨面積的三個計算細節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淨面積（含鋸齒補回項）</a:t>
            </a:r>
            <a:endParaRPr lang="en-US" sz="1300" dirty="0"/>
          </a:p>
        </p:txBody>
      </p:sp>
      <p:pic>
        <p:nvPicPr>
          <p:cNvPr id="7" name="Image 0" descr="formula_imgs/c_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8268" y="1847088"/>
            <a:ext cx="5108185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計算淨面積用的孔徑（題目有給以題目為準）</a:t>
            </a:r>
            <a:endParaRPr lang="en-US" sz="1300" dirty="0"/>
          </a:p>
        </p:txBody>
      </p:sp>
      <p:pic>
        <p:nvPicPr>
          <p:cNvPr id="11" name="Image 1" descr="formula_imgs/c_d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49060"/>
            <a:ext cx="7772400" cy="69140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銲接接合仍須折減；拼接板另有上限</a:t>
            </a:r>
            <a:endParaRPr lang="en-US" sz="1300" dirty="0"/>
          </a:p>
        </p:txBody>
      </p:sp>
      <p:pic>
        <p:nvPicPr>
          <p:cNvPr id="15" name="Image 2" descr="formula_imgs/c_uw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54458"/>
            <a:ext cx="7772400" cy="85545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扣孔用的孔徑比實際鑽孔再大 1~2 mm，因為孔緣材料在製孔時已受損。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微型例題①　角鋼拉桿：GSY 與 NSF 誰控制？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L100×100×10（Ag=19.0 cm²、x̄=2.82 cm），A36：Fy=2.5、Fu=4.1 tf/cm²；單肢一線 4-M20@6cm，t=1.0 cm，dh=2.3 cm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SS-U1-4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拉力接合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單肢連接角鋼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GSY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0.9×2.5×19.0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42.75 tf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An = 19.0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− 2.3×1.0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16.70 cm²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L = 3×6 = 18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= 1 − 2.82/18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= 0.843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Ae = 0.843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× 16.70 = 14.08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NSF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0.75×4.1×14.08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43.31 tf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790749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518818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02920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φPn = 42.75 tf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GSY 控制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2809037" y="4032504"/>
            <a:ext cx="8876995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1917" y="4032504"/>
            <a:ext cx="8511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觀察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兩項很接近 — 這正是設計得宜的訊號。若 U 再小一點（例如一線只有 2 支螺栓，U=0.60），NSF 會掉到 31 tf 而反過來控制。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這題還沒做完的事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5" name="Text 43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塊狀剪力 BSR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接合板端部仍須另算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7" name="Text 45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螺栓剪斷與承壓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支 M20 的強度要另驗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接合板本身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gusset 也要驗 GSY／NSF／BSR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塊狀剪力：為什麼是取 min 而不是相加？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img/d6_block_sh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破壞面只有一個（剪面 + 拉面），但材料可能沿「剪斷」或「剪降伏」兩種路徑走到極限。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兩條式子描述的是同一塊材料的兩種可能，所以取小者控制；相加會把同一塊面積算兩次。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拉面項在兩式中完全相同 — 差別只在剪面用 0.6FuAnv 還是 0.6FyAgv。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剪力線通過的孔通常只佔半孔；Ubs 只有均勻（1.0）與不均勻（0.5）兩種。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塊狀剪力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BSR 的兩條路徑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路徑一：剪面斷裂 + 拉面斷裂</a:t>
            </a:r>
            <a:endParaRPr lang="en-US" sz="1300" dirty="0"/>
          </a:p>
        </p:txBody>
      </p:sp>
      <p:pic>
        <p:nvPicPr>
          <p:cNvPr id="7" name="Image 0" descr="formula_imgs/c_bsr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74477"/>
            <a:ext cx="7772400" cy="8657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路徑二：剪面降伏 + 拉面斷裂</a:t>
            </a:r>
            <a:endParaRPr lang="en-US" sz="1300" dirty="0"/>
          </a:p>
        </p:txBody>
      </p:sp>
      <p:pic>
        <p:nvPicPr>
          <p:cNvPr id="11" name="Image 1" descr="formula_imgs/c_bsr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952" y="3334512"/>
            <a:ext cx="7756816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設計強度（取小，φ = 0.75）</a:t>
            </a:r>
            <a:endParaRPr lang="en-US" sz="1300" dirty="0"/>
          </a:p>
        </p:txBody>
      </p:sp>
      <p:pic>
        <p:nvPicPr>
          <p:cNvPr id="15" name="Image 2" descr="formula_imgs/c_bsr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63597"/>
            <a:ext cx="7772400" cy="6371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Ubs = 1.0（拉應力均勻）／0.5（拉應力不均勻，如雙排偏心接合的角鋼）。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微型例題②　塊狀剪力：先拆面，再取 min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接合板 t=1.0 cm，A36：Fy=2.5、Fu=4.1 tf/cm²；單排 3-M20@6cm，端距 4 cm，側邊距 4 cm，dh=2.3 cm，Ubs=1.0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SS-U1-4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端部螺栓群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畫出破壞塊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剪面長 4+6+6=16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Agv = 16.0 cm²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剪面上 2.5 個孔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Anv = 10.25 cm²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拉面長 4 cm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Agt = 4.0 cm²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拉面上 0.5 個孔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Ant = 2.85 cm²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Ubs = 1.0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（拉應力均勻）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2434" y="277977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式一：0.6×4.1×10.25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+ 4.1×2.85 = 36.90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62706" y="3232404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3" name="Text 21"/>
          <p:cNvSpPr/>
          <p:nvPr/>
        </p:nvSpPr>
        <p:spPr>
          <a:xfrm>
            <a:off x="3472434" y="3232404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式二：0.6×2.5×16.0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+ 4.1×2.85 = 35.69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222492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664583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362706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3490722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φRn = 26.8 tf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式二控制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40780" y="4032504"/>
            <a:ext cx="5445252" cy="749808"/>
          </a:xfrm>
          <a:prstGeom prst="roundRect">
            <a:avLst>
              <a:gd name="adj" fmla="val 9756"/>
            </a:avLst>
          </a:prstGeom>
          <a:solidFill>
            <a:srgbClr val="F4F6F9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3660" y="4032504"/>
            <a:ext cx="50794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為什麼是 2.5 個孔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剪力線從板端切過 3 個孔：中間 2 個是整孔，最靠端部那個只切到一半，所以是 2+0.5 = 2.5。拉面同理只切半個孔。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常見失分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9" name="Text 3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拉面誤乘 0.6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拉面永遠不乘 0.6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兩式相加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是同一破壞面，取 min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孔數數錯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端部與邊緣都是半孔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摩阻型與承壓型：力走的路根本不同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img/d7_bolt_wor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摩阻型靠預拉力 Tb 把板夾緊，力走「板與板的摩擦面」，螺栓桿其實不受剪。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承壓型允許板滑動到貼緊，力改走「螺栓桿受剪 + 孔壁承壓」，這才是強度極限狀態。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摩阻型的 φ=1.0，因為滑動是使用性極限、不是斷裂；但滑動後仍須以承壓型再驗一次。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看到「不得滑動」「反復載重」「長槽孔」就往摩阻型想。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螺栓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螺栓的四條主力公式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摩阻型：抗滑動（使用性極限，φ = 1.0）</a:t>
            </a:r>
            <a:endParaRPr lang="en-US" sz="1300" dirty="0"/>
          </a:p>
        </p:txBody>
      </p:sp>
      <p:pic>
        <p:nvPicPr>
          <p:cNvPr id="7" name="Image 0" descr="formula_imgs/c_s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1517" y="1847088"/>
            <a:ext cx="5841687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承壓型：螺栓桿剪斷（ns 為剪力面數）</a:t>
            </a:r>
            <a:endParaRPr lang="en-US" sz="1300" dirty="0"/>
          </a:p>
        </p:txBody>
      </p:sp>
      <p:pic>
        <p:nvPicPr>
          <p:cNvPr id="11" name="Image 1" descr="formula_imgs/c_bsh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008" y="2962656"/>
            <a:ext cx="3586704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螺栓受拉</a:t>
            </a:r>
            <a:endParaRPr lang="en-US" sz="1300" dirty="0"/>
          </a:p>
        </p:txBody>
      </p:sp>
      <p:pic>
        <p:nvPicPr>
          <p:cNvPr id="15" name="Image 2" descr="formula_imgs/c_bte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00" y="4078224"/>
            <a:ext cx="3103321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拉剪組合（折減後的抗拉標稱強度）</a:t>
            </a:r>
            <a:endParaRPr lang="en-US" sz="1300" dirty="0"/>
          </a:p>
        </p:txBody>
      </p:sp>
      <p:pic>
        <p:nvPicPr>
          <p:cNvPr id="19" name="Image 3" descr="formula_imgs/c_bcom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18" y="5193792"/>
            <a:ext cx="3342484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Fnv、Fnt 依螺栓等級與螺牙是否在剪力面內查表；考試通常會給，切勿自己編數字。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孔壁承壓：為什麼公式有兩項要取小？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img/d8_bea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邊距不足時，材料沿孔前方兩條剪力線被「撕出」，強度隨淨距 Lc 線性成長（0.6×2 條 = 1.2）。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邊距足夠後，破壞轉為孔被「壓長」，由變形量控制，強度封頂在 2.4Fu·d·t，轉折點在 Lc = 2d。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Lc 是淨距不是中心距：靠板邊用 Le − dh/2，孔與孔之間用 s − dh，每支分別算再加總。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承壓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孔壁承壓與構造規定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孔壁承壓（撕出 vs 壓陷，取小）</a:t>
            </a:r>
            <a:endParaRPr lang="en-US" sz="1300" dirty="0"/>
          </a:p>
        </p:txBody>
      </p:sp>
      <p:pic>
        <p:nvPicPr>
          <p:cNvPr id="7" name="Image 0" descr="formula_imgs/c_b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72166"/>
            <a:ext cx="7772400" cy="6703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淨距 Lc 的兩種量法</a:t>
            </a:r>
            <a:endParaRPr lang="en-US" sz="1300" dirty="0"/>
          </a:p>
        </p:txBody>
      </p:sp>
      <p:pic>
        <p:nvPicPr>
          <p:cNvPr id="11" name="Image 1" descr="formula_imgs/c_l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95" y="3334512"/>
            <a:ext cx="5467930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間距與邊距的構造下限</a:t>
            </a:r>
            <a:endParaRPr lang="en-US" sz="1300" dirty="0"/>
          </a:p>
        </p:txBody>
      </p:sp>
      <p:pic>
        <p:nvPicPr>
          <p:cNvPr id="15" name="Image 2" descr="formula_imgs/c_spac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837094"/>
            <a:ext cx="7772400" cy="89017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承壓是「板」的極限狀態而不是螺栓的 — 所以用的是板的 Fu 與板厚 t。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微型例題③　承壓型螺栓群：剪斷還是承壓控制？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4-M20（d=2.0 cm、Ab=3.14 cm²、Fnv=3.3 tf/cm²）單剪；板 t=1.0 cm、Fu=4.1 tf/cm²；s=6 cm、Le=4 cm、孔徑 2.2 cm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SS-U1-4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承壓型接合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支單剪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剪斷／支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0.75×3.3×3.14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7.77 tf／支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×4 = 31.1 tf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承壓：分邊、內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7" name="Text 15"/>
          <p:cNvSpPr/>
          <p:nvPr/>
        </p:nvSpPr>
        <p:spPr>
          <a:xfrm>
            <a:off x="9192006" y="277977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邊螺栓 Lc = 4 − 1.1 = 2.9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1.2×4.1×2.9 = 14.3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82278" y="3232404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9" name="Text 17"/>
          <p:cNvSpPr/>
          <p:nvPr/>
        </p:nvSpPr>
        <p:spPr>
          <a:xfrm>
            <a:off x="9192006" y="3232404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內螺栓 Lc = 6 − 2.2 = 3.8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1.2×4.1×3.8 = 18.7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 2.4×4.1×2.0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19.7 tf（未超過）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 = 14.3 + 3×18.7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70.4 tf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= 0.75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52.8 tf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82278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082278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22492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φRn = 31.1 tf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剪斷控制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板夠厚、邊距夠大時，通常由螺栓剪斷控制；板薄或邊距不足時才換成承壓控制。兩者都要算完才知道。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三個必做的檢查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2" name="Text 40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剪力面數 ns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雙剪要乘 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4" name="Text 42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逐支算 Lc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邊、內螺栓不同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6" name="Text 44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承壓用板的 Fu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不是螺栓的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填角銲：為什麼算強度不能直接用銲腳 w？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img/d9_fillet_thro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填角銲有三個候選破壞面：兩條熔接邊與一條 45° 喉部，最小的是喉部 te = 0.707w。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銲道也是「被剪的面」，所以帶 0.6；脆性破壞所以 φ = 0.75。兩把尺在這裡照樣適用。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E70 電銲條代入後可直接記住：每 1 cm 銲長、每 1 cm 銲腳可承擔 1.565 tf。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算出 w 後要取整（通常取 1 mm 或 2 mm 的倍數），再回頭檢查上下限。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銲接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填角銲的核心三式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有效喉厚（45° 最小破壞面）</a:t>
            </a:r>
            <a:endParaRPr lang="en-US" sz="1300" dirty="0"/>
          </a:p>
        </p:txBody>
      </p:sp>
      <p:pic>
        <p:nvPicPr>
          <p:cNvPr id="7" name="Image 0" descr="formula_imgs/c_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4229" y="1847088"/>
            <a:ext cx="6796261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設計強度通式</a:t>
            </a:r>
            <a:endParaRPr lang="en-US" sz="1300" dirty="0"/>
          </a:p>
        </p:txBody>
      </p:sp>
      <p:pic>
        <p:nvPicPr>
          <p:cNvPr id="11" name="Image 1" descr="formula_imgs/c_fil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87097"/>
            <a:ext cx="7772400" cy="6153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E70 快速式（考場最省時間）</a:t>
            </a:r>
            <a:endParaRPr lang="en-US" sz="1300" dirty="0"/>
          </a:p>
        </p:txBody>
      </p:sp>
      <p:pic>
        <p:nvPicPr>
          <p:cNvPr id="15" name="Image 2" descr="formula_imgs/c_e7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79496"/>
            <a:ext cx="7772400" cy="6053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銲腳上限 wmax = t − 2 mm（t ≥ 6 mm）；有效長度不足 4w 時只能取 Lw/4。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橫向銲為什麼比縱向銲強 50%？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img/d10_weld_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受力方向與銲道軸線的夾角 θ 越大，喉部越接近「純拉」而非「純剪」，強度因而提升。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係數從 θ=0° 的 1.0 增加到 θ=90° 的 1.5；題目沒特別說明時保守取 1.0。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全滲透開槽銲（CJP）銲道比母材強，直接由母材控制；部分滲透（PJP）則要查有效喉厚。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偏心接合：把一個偏心力換成「一個力 + 一個扭矩」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img/d11_eccentr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直接剪力 Rv = P/n 每一支都相同；扭矩剪力 RM = M·r/Ip 大小正比於 r、方向垂直於 r。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臨界螺栓不一定是離形心最遠那一支 — 要看兩個向量的夾角，通常在受力側的最外角。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螺栓群的 Ip = Σ(x²+y²) 單位是 cm²（純座標平方和）；銲縫線圖法的 Ip 單位是 cm³。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四步驟順序不能顛倒：求形心 → 求 Ip → 分別算兩組剪力 → 疊加取最大。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偏心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彈性向量法的四條式子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極慣性矩與等效扭矩</a:t>
            </a:r>
            <a:endParaRPr lang="en-US" sz="1300" dirty="0"/>
          </a:p>
        </p:txBody>
      </p:sp>
      <p:pic>
        <p:nvPicPr>
          <p:cNvPr id="7" name="Image 0" descr="formula_imgs/c_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457" y="1847088"/>
            <a:ext cx="3867807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直接剪力（每支相同）</a:t>
            </a:r>
            <a:endParaRPr lang="en-US" sz="1300" dirty="0"/>
          </a:p>
        </p:txBody>
      </p:sp>
      <p:pic>
        <p:nvPicPr>
          <p:cNvPr id="11" name="Image 1" descr="formula_imgs/c_r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849" y="2962656"/>
            <a:ext cx="2923022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扭矩剪力（分解為 x、y 兩個分量）</a:t>
            </a:r>
            <a:endParaRPr lang="en-US" sz="1300" dirty="0"/>
          </a:p>
        </p:txBody>
      </p:sp>
      <p:pic>
        <p:nvPicPr>
          <p:cNvPr id="15" name="Image 2" descr="formula_imgs/c_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781" y="4078224"/>
            <a:ext cx="3091158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臨界點合力</a:t>
            </a:r>
            <a:endParaRPr lang="en-US" sz="1300" dirty="0"/>
          </a:p>
        </p:txBody>
      </p:sp>
      <p:pic>
        <p:nvPicPr>
          <p:cNvPr id="19" name="Image 3" descr="formula_imgs/c_rr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5609" y="5193792"/>
            <a:ext cx="4513501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分量記法比向量記法可靠：把 RM 直接拆成 My/Ip 與 Mx/Ip，再與 Rv 的分量相加。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銲縫線圖法：把銲道當成一條「寬度 1 cm 的線」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img/d12_weld_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有效喉厚 te 在每一段銲道都一樣，可以先提出來，最後再乘回去 — 這就是線圖法的全部道理。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先算每 cm 的力 f（tf/cm），再和每 cm 的容量 1.565w 比較，直接解出所需銲腳 w。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形銲縫的形心 x̄ = b²/(2b+d) 是必背值；臨界點通常落在離形心最遠的角落。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例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微型例題④　偏心螺栓群：找出臨界螺栓的合力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 支螺栓：2 行（x = ±4 cm）×3 列（y = 0、±7.5 cm）；Pu = 10 tf 向下，偏心距 e = 20 cm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SS-U1-4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偏心托架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 支螺栓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形心 C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在群心（對稱）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Σx²=96、Σy²=225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Ip = 321 cm²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M = 10×20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200 tf·cm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Rv = 10/6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1.67 tf（↓）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臨界螺栓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(x, y) = (4, 7.5)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62706" y="277977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2434" y="277977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RMx = 200×7.5/321 = 4.67（→）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62706" y="3232404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3" name="Text 21"/>
          <p:cNvSpPr/>
          <p:nvPr/>
        </p:nvSpPr>
        <p:spPr>
          <a:xfrm>
            <a:off x="3472434" y="3232404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RMy = 200×4/321 = 2.49（↓）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疊加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√(4.67² + 4.16²)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22492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22492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362706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362706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 = 6.26 tf／支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為什麼是 4.16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垂直分量要把 Rv 與 RMy 先相加：1.67 + 2.49 = 4.16 tf；水平分量只有 RMx = 4.67 tf。先加分量、再開根號。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三個容易錯的地方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3" name="Text 41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Ip 忘了算 Σx²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Ip = Ix + Iy，兩軸都要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5" name="Text 43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先開根號再相加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必須先加分量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7" name="Text 45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臨界點挑錯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要看兩向量是否同向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接合題七步解題流程（任何題型都適用）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從讀題到收尾的固定動線 — 照走就不會漏項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SS-U1-4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讀題：是續接嗎？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1" name="Text 9"/>
          <p:cNvSpPr/>
          <p:nvPr/>
        </p:nvSpPr>
        <p:spPr>
          <a:xfrm>
            <a:off x="3472434" y="1481328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是 → 設計力取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max(Pu, 0.5φPn)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62706" y="193395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3472434" y="193395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否 → 直接用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題給的 Pu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畫力量傳遞路徑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寫極限狀態清單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母材端三項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GSY／NSF／BSR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緊結物：螺栓還是銲接？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22492" y="277977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1" name="Text 19"/>
          <p:cNvSpPr/>
          <p:nvPr/>
        </p:nvSpPr>
        <p:spPr>
          <a:xfrm>
            <a:off x="6332220" y="277977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螺栓：摩阻型？承壓型？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剪斷＋孔壁承壓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22492" y="3232404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3" name="Text 21"/>
          <p:cNvSpPr/>
          <p:nvPr/>
        </p:nvSpPr>
        <p:spPr>
          <a:xfrm>
            <a:off x="6332220" y="3232404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銲接：填角？CJP／PJP？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喉部 te = 0.707w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2706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3490722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有偏心距 e 嗎？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 → 彈性向量法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拼接板／續接板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同樣驗三項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06674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106674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966460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66460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82278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82278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222492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222492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3627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⑦ φRn = min（全部）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再與 Ru 比較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F4F6F9"/>
          </a:solidFill>
          <a:ln w="15875">
            <a:solidFill>
              <a:srgbClr val="1B2A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時間不夠時的取捨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先把清單列完整再開始計算 — 閱卷是看有沒有列到該列的極限狀態；只算對其中一項但漏列其他項，分數掉得最快。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收尾前一定要回頭看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7" name="Text 45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tf、cm 是否一致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構造規定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銲腳、間距、邊距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1" name="Text 49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 min 而非取平均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答案是最弱的那一環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全公式一頁速查｜母材端與螺栓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純剪降伏（0.6 的由來）</a:t>
            </a:r>
            <a:endParaRPr lang="en-US" sz="1050" dirty="0"/>
          </a:p>
        </p:txBody>
      </p:sp>
      <p:pic>
        <p:nvPicPr>
          <p:cNvPr id="7" name="Image 0" descr="formula_imgs/c_v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767" y="1938528"/>
            <a:ext cx="2136343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LRFD 設計不等式</a:t>
            </a:r>
            <a:endParaRPr lang="en-US" sz="1050" dirty="0"/>
          </a:p>
        </p:txBody>
      </p:sp>
      <p:pic>
        <p:nvPicPr>
          <p:cNvPr id="11" name="Image 1" descr="formula_imgs/c_lr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86" y="1985851"/>
            <a:ext cx="2462022" cy="29854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母材全斷面降伏 GSY</a:t>
            </a:r>
            <a:endParaRPr lang="en-US" sz="1050" dirty="0"/>
          </a:p>
        </p:txBody>
      </p:sp>
      <p:pic>
        <p:nvPicPr>
          <p:cNvPr id="15" name="Image 2" descr="formula_imgs/c_gs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804" y="1938528"/>
            <a:ext cx="2087701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母材淨斷面斷裂 NSF</a:t>
            </a:r>
            <a:endParaRPr lang="en-US" sz="1050" dirty="0"/>
          </a:p>
        </p:txBody>
      </p:sp>
      <p:pic>
        <p:nvPicPr>
          <p:cNvPr id="19" name="Image 3" descr="formula_imgs/c_ns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002" y="2011697"/>
            <a:ext cx="2462022" cy="24685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淨面積（含鋸齒）</a:t>
            </a:r>
            <a:endParaRPr lang="en-US" sz="1050" dirty="0"/>
          </a:p>
        </p:txBody>
      </p:sp>
      <p:pic>
        <p:nvPicPr>
          <p:cNvPr id="23" name="Image 4" descr="formula_imgs/c_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53" y="2971800"/>
            <a:ext cx="2181973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扣孔用孔徑</a:t>
            </a:r>
            <a:endParaRPr lang="en-US" sz="1050" dirty="0"/>
          </a:p>
        </p:txBody>
      </p:sp>
      <p:pic>
        <p:nvPicPr>
          <p:cNvPr id="27" name="Image 5" descr="formula_imgs/c_d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3058890"/>
            <a:ext cx="2462022" cy="219011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剪力遲滯係數</a:t>
            </a:r>
            <a:endParaRPr lang="en-US" sz="1050" dirty="0"/>
          </a:p>
        </p:txBody>
      </p:sp>
      <p:pic>
        <p:nvPicPr>
          <p:cNvPr id="31" name="Image 6" descr="formula_imgs/c_u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5784" y="2971800"/>
            <a:ext cx="1041741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銲接接合的 Ae</a:t>
            </a:r>
            <a:endParaRPr lang="en-US" sz="1050" dirty="0"/>
          </a:p>
        </p:txBody>
      </p:sp>
      <p:pic>
        <p:nvPicPr>
          <p:cNvPr id="35" name="Image 7" descr="formula_imgs/c_uwe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3032907"/>
            <a:ext cx="2462022" cy="270977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BSR 路徑一（剪斷＋拉斷）</a:t>
            </a:r>
            <a:endParaRPr lang="en-US" sz="1050" dirty="0"/>
          </a:p>
        </p:txBody>
      </p:sp>
      <p:pic>
        <p:nvPicPr>
          <p:cNvPr id="39" name="Image 8" descr="formula_imgs/c_bsr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064553"/>
            <a:ext cx="2462022" cy="274229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BSR 路徑二（剪降伏＋拉斷）</a:t>
            </a:r>
            <a:endParaRPr lang="en-US" sz="1050" dirty="0"/>
          </a:p>
        </p:txBody>
      </p:sp>
      <p:pic>
        <p:nvPicPr>
          <p:cNvPr id="43" name="Image 9" descr="formula_imgs/c_bsr2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055585"/>
            <a:ext cx="2462022" cy="292166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BSR 取小</a:t>
            </a:r>
            <a:endParaRPr lang="en-US" sz="1050" dirty="0"/>
          </a:p>
        </p:txBody>
      </p:sp>
      <p:pic>
        <p:nvPicPr>
          <p:cNvPr id="47" name="Image 10" descr="formula_imgs/c_bsrmi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644" y="4100751"/>
            <a:ext cx="2462022" cy="201834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Ubs 取值</a:t>
            </a:r>
            <a:endParaRPr lang="en-US" sz="1050" dirty="0"/>
          </a:p>
        </p:txBody>
      </p:sp>
      <p:pic>
        <p:nvPicPr>
          <p:cNvPr id="51" name="Image 11" descr="formula_imgs/c_ubs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0002" y="4110051"/>
            <a:ext cx="2462022" cy="183235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摩阻型抗滑動</a:t>
            </a:r>
            <a:endParaRPr lang="en-US" sz="1050" dirty="0"/>
          </a:p>
        </p:txBody>
      </p:sp>
      <p:pic>
        <p:nvPicPr>
          <p:cNvPr id="55" name="Image 12" descr="formula_imgs/c_slip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5119326"/>
            <a:ext cx="2462022" cy="231228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摩擦係數</a:t>
            </a:r>
            <a:endParaRPr lang="en-US" sz="1050" dirty="0"/>
          </a:p>
        </p:txBody>
      </p:sp>
      <p:pic>
        <p:nvPicPr>
          <p:cNvPr id="59" name="Image 13" descr="formula_imgs/c_mu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1286" y="5129870"/>
            <a:ext cx="2462022" cy="210140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螺栓剪斷</a:t>
            </a:r>
            <a:endParaRPr lang="en-US" sz="1050" dirty="0"/>
          </a:p>
        </p:txBody>
      </p:sp>
      <p:pic>
        <p:nvPicPr>
          <p:cNvPr id="63" name="Image 14" descr="formula_imgs/c_bshe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5046638"/>
            <a:ext cx="2462022" cy="376603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螺栓受拉</a:t>
            </a:r>
            <a:endParaRPr lang="en-US" sz="1050" dirty="0"/>
          </a:p>
        </p:txBody>
      </p:sp>
      <p:pic>
        <p:nvPicPr>
          <p:cNvPr id="67" name="Image 15" descr="formula_imgs/c_btens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78990" y="5038344"/>
            <a:ext cx="2224046" cy="393192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457200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9" name="Shape 51"/>
          <p:cNvSpPr/>
          <p:nvPr/>
        </p:nvSpPr>
        <p:spPr>
          <a:xfrm>
            <a:off x="457200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0" name="Text 52"/>
          <p:cNvSpPr/>
          <p:nvPr/>
        </p:nvSpPr>
        <p:spPr>
          <a:xfrm>
            <a:off x="566928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孔壁承壓</a:t>
            </a:r>
            <a:endParaRPr lang="en-US" sz="1050" dirty="0"/>
          </a:p>
        </p:txBody>
      </p:sp>
      <p:pic>
        <p:nvPicPr>
          <p:cNvPr id="71" name="Image 16" descr="formula_imgs/c_brg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6928" y="6162042"/>
            <a:ext cx="2462022" cy="212340"/>
          </a:xfrm>
          <a:prstGeom prst="rect">
            <a:avLst/>
          </a:prstGeom>
        </p:spPr>
      </p:pic>
      <p:sp>
        <p:nvSpPr>
          <p:cNvPr id="72" name="Shape 53"/>
          <p:cNvSpPr/>
          <p:nvPr/>
        </p:nvSpPr>
        <p:spPr>
          <a:xfrm>
            <a:off x="3321558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73" name="Shape 54"/>
          <p:cNvSpPr/>
          <p:nvPr/>
        </p:nvSpPr>
        <p:spPr>
          <a:xfrm>
            <a:off x="3321558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4" name="Text 55"/>
          <p:cNvSpPr/>
          <p:nvPr/>
        </p:nvSpPr>
        <p:spPr>
          <a:xfrm>
            <a:off x="3431286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淨距 Lc</a:t>
            </a:r>
            <a:endParaRPr lang="en-US" sz="1050" dirty="0"/>
          </a:p>
        </p:txBody>
      </p:sp>
      <p:pic>
        <p:nvPicPr>
          <p:cNvPr id="75" name="Image 17" descr="formula_imgs/c_lc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94478" y="6071616"/>
            <a:ext cx="2335639" cy="393192"/>
          </a:xfrm>
          <a:prstGeom prst="rect">
            <a:avLst/>
          </a:prstGeom>
        </p:spPr>
      </p:pic>
      <p:sp>
        <p:nvSpPr>
          <p:cNvPr id="76" name="Shape 56"/>
          <p:cNvSpPr/>
          <p:nvPr/>
        </p:nvSpPr>
        <p:spPr>
          <a:xfrm>
            <a:off x="6185916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77" name="Shape 57"/>
          <p:cNvSpPr/>
          <p:nvPr/>
        </p:nvSpPr>
        <p:spPr>
          <a:xfrm>
            <a:off x="6185916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8" name="Text 58"/>
          <p:cNvSpPr/>
          <p:nvPr/>
        </p:nvSpPr>
        <p:spPr>
          <a:xfrm>
            <a:off x="6295644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拉剪組合</a:t>
            </a:r>
            <a:endParaRPr lang="en-US" sz="1050" dirty="0"/>
          </a:p>
        </p:txBody>
      </p:sp>
      <p:pic>
        <p:nvPicPr>
          <p:cNvPr id="79" name="Image 18" descr="formula_imgs/c_bcomb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8932" y="6071616"/>
            <a:ext cx="2395447" cy="393192"/>
          </a:xfrm>
          <a:prstGeom prst="rect">
            <a:avLst/>
          </a:prstGeom>
        </p:spPr>
      </p:pic>
      <p:sp>
        <p:nvSpPr>
          <p:cNvPr id="80" name="Shape 59"/>
          <p:cNvSpPr/>
          <p:nvPr/>
        </p:nvSpPr>
        <p:spPr>
          <a:xfrm>
            <a:off x="9050274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81" name="Shape 60"/>
          <p:cNvSpPr/>
          <p:nvPr/>
        </p:nvSpPr>
        <p:spPr>
          <a:xfrm>
            <a:off x="9050274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2" name="Text 61"/>
          <p:cNvSpPr/>
          <p:nvPr/>
        </p:nvSpPr>
        <p:spPr>
          <a:xfrm>
            <a:off x="9160002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間距與邊距</a:t>
            </a:r>
            <a:endParaRPr lang="en-US" sz="1050" dirty="0"/>
          </a:p>
        </p:txBody>
      </p:sp>
      <p:pic>
        <p:nvPicPr>
          <p:cNvPr id="83" name="Image 19" descr="formula_imgs/c_spacing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60002" y="6127223"/>
            <a:ext cx="2462022" cy="28197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全公式一頁速查｜銲接、偏心與續接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填角銲有效喉厚</a:t>
            </a:r>
            <a:endParaRPr lang="en-US" sz="1050" dirty="0"/>
          </a:p>
        </p:txBody>
      </p:sp>
      <p:pic>
        <p:nvPicPr>
          <p:cNvPr id="7" name="Image 0" descr="formula_imgs/c_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97553"/>
            <a:ext cx="2462022" cy="3334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填角銲設計強度</a:t>
            </a:r>
            <a:endParaRPr lang="en-US" sz="1050" dirty="0"/>
          </a:p>
        </p:txBody>
      </p:sp>
      <p:pic>
        <p:nvPicPr>
          <p:cNvPr id="11" name="Image 1" descr="formula_imgs/c_fil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86" y="2166826"/>
            <a:ext cx="2462022" cy="19491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E70 快速式</a:t>
            </a:r>
            <a:endParaRPr lang="en-US" sz="1050" dirty="0"/>
          </a:p>
        </p:txBody>
      </p:sp>
      <p:pic>
        <p:nvPicPr>
          <p:cNvPr id="15" name="Image 2" descr="formula_imgs/c_e7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2168402"/>
            <a:ext cx="2462022" cy="19176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銲道方向增益</a:t>
            </a:r>
            <a:endParaRPr lang="en-US" sz="1050" dirty="0"/>
          </a:p>
        </p:txBody>
      </p:sp>
      <p:pic>
        <p:nvPicPr>
          <p:cNvPr id="19" name="Image 3" descr="formula_imgs/c_thet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002" y="2148360"/>
            <a:ext cx="2462022" cy="23184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銲腳上限</a:t>
            </a:r>
            <a:endParaRPr lang="en-US" sz="1050" dirty="0"/>
          </a:p>
        </p:txBody>
      </p:sp>
      <p:pic>
        <p:nvPicPr>
          <p:cNvPr id="23" name="Image 4" descr="formula_imgs/c_wma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422117"/>
            <a:ext cx="2462022" cy="267513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銲道有效長度</a:t>
            </a:r>
            <a:endParaRPr lang="en-US" sz="1050" dirty="0"/>
          </a:p>
        </p:txBody>
      </p:sp>
      <p:pic>
        <p:nvPicPr>
          <p:cNvPr id="27" name="Image 5" descr="formula_imgs/c_wl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3401932"/>
            <a:ext cx="2462022" cy="307881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CJP 由母材控制</a:t>
            </a:r>
            <a:endParaRPr lang="en-US" sz="1050" dirty="0"/>
          </a:p>
        </p:txBody>
      </p:sp>
      <p:pic>
        <p:nvPicPr>
          <p:cNvPr id="31" name="Image 6" descr="formula_imgs/c_cj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644" y="3464480"/>
            <a:ext cx="2462022" cy="182786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銲縫線圖 Ip</a:t>
            </a:r>
            <a:endParaRPr lang="en-US" sz="1050" dirty="0"/>
          </a:p>
        </p:txBody>
      </p:sp>
      <p:pic>
        <p:nvPicPr>
          <p:cNvPr id="35" name="Image 7" descr="formula_imgs/c_weldi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3430759"/>
            <a:ext cx="2462022" cy="250229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銲縫每 cm 容量</a:t>
            </a:r>
            <a:endParaRPr lang="en-US" sz="1050" dirty="0"/>
          </a:p>
        </p:txBody>
      </p:sp>
      <p:pic>
        <p:nvPicPr>
          <p:cNvPr id="39" name="Image 8" descr="formula_imgs/c_weld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698025"/>
            <a:ext cx="2462022" cy="298877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極慣性矩</a:t>
            </a:r>
            <a:endParaRPr lang="en-US" sz="1050" dirty="0"/>
          </a:p>
        </p:txBody>
      </p:sp>
      <p:pic>
        <p:nvPicPr>
          <p:cNvPr id="43" name="Image 9" descr="formula_imgs/c_ip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672847"/>
            <a:ext cx="2462022" cy="34923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等效扭矩</a:t>
            </a:r>
            <a:endParaRPr lang="en-US" sz="1050" dirty="0"/>
          </a:p>
        </p:txBody>
      </p:sp>
      <p:pic>
        <p:nvPicPr>
          <p:cNvPr id="47" name="Image 10" descr="formula_imgs/c_m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3559" y="4521708"/>
            <a:ext cx="2006192" cy="65151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直接剪力</a:t>
            </a:r>
            <a:endParaRPr lang="en-US" sz="1050" dirty="0"/>
          </a:p>
        </p:txBody>
      </p:sp>
      <p:pic>
        <p:nvPicPr>
          <p:cNvPr id="51" name="Image 11" descr="formula_imgs/c_rv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0002" y="4616407"/>
            <a:ext cx="2462022" cy="46211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扭矩剪力</a:t>
            </a:r>
            <a:endParaRPr lang="en-US" sz="1050" dirty="0"/>
          </a:p>
        </p:txBody>
      </p:sp>
      <p:pic>
        <p:nvPicPr>
          <p:cNvPr id="55" name="Image 12" descr="formula_imgs/c_rm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5920565"/>
            <a:ext cx="2462022" cy="436977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臨界點合力</a:t>
            </a:r>
            <a:endParaRPr lang="en-US" sz="1050" dirty="0"/>
          </a:p>
        </p:txBody>
      </p:sp>
      <p:pic>
        <p:nvPicPr>
          <p:cNvPr id="59" name="Image 13" descr="formula_imgs/c_rre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1286" y="5989417"/>
            <a:ext cx="2462022" cy="299272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續接設計力</a:t>
            </a:r>
            <a:endParaRPr lang="en-US" sz="1050" dirty="0"/>
          </a:p>
        </p:txBody>
      </p:sp>
      <p:pic>
        <p:nvPicPr>
          <p:cNvPr id="63" name="Image 14" descr="formula_imgs/c_splic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5999301"/>
            <a:ext cx="2462022" cy="279505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拼接板淨面積上限</a:t>
            </a:r>
            <a:endParaRPr lang="en-US" sz="1050" dirty="0"/>
          </a:p>
        </p:txBody>
      </p:sp>
      <p:pic>
        <p:nvPicPr>
          <p:cNvPr id="67" name="Image 15" descr="formula_imgs/c_anmax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60002" y="5991066"/>
            <a:ext cx="2462022" cy="29597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高頻陷阱八則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續接題的設計力不是題目給的內力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看到「續接」二字，設計需求要取（題給內力）與（構材設計強度之半）的大者，先比大小再開始算接合。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銲接接合以為不用算剪力遲滯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銲接沒有孔，所以 An = Ag；但只要不是全斷面都被連接，U 就仍然存在，Ae = U·Ag 不能省。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6037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14325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1432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12496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填角銲直接拿銲腳 w 當承力厚度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364617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承力厚度是有效喉厚 te = 0.707w。算出 w 後還要取整，並檢查 wmin 與 wmax = t − 2 mm。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296037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14325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14325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12496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塊狀剪力把兩條式子相加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364617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兩式是同一破壞面的兩種可能路徑，必須取 min。相加等於把同一塊材料算了兩次。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2910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41198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39369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拉面也乘了 0.6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491490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0.6 只給「被剪的面」。BSR 的拉面項永遠是 Ubs·Fu·Ant，前面沒有 0.6。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422910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441198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439369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孔壁承壓只算一支螺栓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491490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邊螺栓用 Le − dh/2、內螺栓用 s − dh，每支的 Lc 不同，要逐支算再加總。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49783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35" name="Shape 33"/>
          <p:cNvSpPr/>
          <p:nvPr/>
        </p:nvSpPr>
        <p:spPr>
          <a:xfrm>
            <a:off x="749808" y="568071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6807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88720" y="566242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偏心接合先開根號再相加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49808" y="618363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必須先把 x 分量、y 分量各自相加，最後才開根號。順序顛倒會低估合力。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31636" y="5497830"/>
            <a:ext cx="5408676" cy="994410"/>
          </a:xfrm>
          <a:prstGeom prst="roundRect">
            <a:avLst>
              <a:gd name="adj" fmla="val 7356"/>
            </a:avLst>
          </a:prstGeom>
          <a:solidFill>
            <a:srgbClr val="2A3F5A"/>
          </a:solidFill>
          <a:ln/>
        </p:spPr>
      </p:sp>
      <p:sp>
        <p:nvSpPr>
          <p:cNvPr id="40" name="Shape 38"/>
          <p:cNvSpPr/>
          <p:nvPr/>
        </p:nvSpPr>
        <p:spPr>
          <a:xfrm>
            <a:off x="6432804" y="568071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1" name="Text 39"/>
          <p:cNvSpPr/>
          <p:nvPr/>
        </p:nvSpPr>
        <p:spPr>
          <a:xfrm>
            <a:off x="6432804" y="568071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71716" y="566242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摩阻型算完就交卷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32804" y="6183630"/>
            <a:ext cx="500634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摩阻型只是「不滑動」的使用性檢核，滑動之後仍須以承壓型（剪斷＋承壓）再驗一次強度。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接合之分析與設計｜重點回顧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一個本質：接合求的是「一串破壞面」的最小值 — 解題第一步永遠是寫極限狀態清單。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兩把尺：受剪面乘 0.6（von Mises）、受拉面不乘；降伏用 Fy·Ag 配 φ=0.90、斷裂用 Fu·Ae 配 φ=0.75。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三大關卡：母材（GSY／NSF／BSR）→ 緊結物（螺栓兩世界／銲接三型式）→ 拼接板同樣三項。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有偏心就搬到形心：一個力 + 一個扭矩，先加分量再開根號，臨界點取兩向量最同向者。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考前總複習</dc:creator>
  <cp:lastModifiedBy>考前總複習</cp:lastModifiedBy>
  <cp:revision>1</cp:revision>
  <dcterms:created xsi:type="dcterms:W3CDTF">2026-09-14T08:55:46Z</dcterms:created>
  <dcterms:modified xsi:type="dcterms:W3CDTF">2026-09-14T08:55:46Z</dcterms:modified>
</cp:coreProperties>
</file>