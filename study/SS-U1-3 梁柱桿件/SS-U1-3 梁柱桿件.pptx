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image" Target="../media/image-26-8.png"/><Relationship Id="rId9" Type="http://schemas.openxmlformats.org/officeDocument/2006/relationships/image" Target="../media/image-26-9.png"/><Relationship Id="rId10" Type="http://schemas.openxmlformats.org/officeDocument/2006/relationships/image" Target="../media/image-26-10.png"/><Relationship Id="rId11" Type="http://schemas.openxmlformats.org/officeDocument/2006/relationships/image" Target="../media/image-26-11.png"/><Relationship Id="rId12" Type="http://schemas.openxmlformats.org/officeDocument/2006/relationships/image" Target="../media/image-26-12.png"/><Relationship Id="rId13" Type="http://schemas.openxmlformats.org/officeDocument/2006/relationships/image" Target="../media/image-26-13.png"/><Relationship Id="rId14" Type="http://schemas.openxmlformats.org/officeDocument/2006/relationships/image" Target="../media/image-26-14.png"/><Relationship Id="rId15" Type="http://schemas.openxmlformats.org/officeDocument/2006/relationships/image" Target="../media/image-26-15.png"/><Relationship Id="rId16" Type="http://schemas.openxmlformats.org/officeDocument/2006/relationships/image" Target="../media/image-26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1188720"/>
            <a:ext cx="2926080" cy="2926080"/>
          </a:xfrm>
          <a:prstGeom prst="ellipse">
            <a:avLst/>
          </a:prstGeom>
          <a:solidFill>
            <a:srgbClr val="4C6B8A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-457200"/>
            <a:ext cx="1463040" cy="1463040"/>
          </a:xfrm>
          <a:prstGeom prst="ellipse">
            <a:avLst/>
          </a:prstGeom>
          <a:solidFill>
            <a:srgbClr val="E8734A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SS · 鋼結構設計｜觀念講義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33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梁柱桿件 Beam-Column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全鋼結構唯一「內力會自己長大」的構材 —— 掌握兩條腿的解題骨架，規範公式就不會迷路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4617720"/>
            <a:ext cx="1133856" cy="457200"/>
          </a:xfrm>
          <a:prstGeom prst="roundRect">
            <a:avLst>
              <a:gd name="adj" fmla="val 16000"/>
            </a:avLst>
          </a:prstGeom>
          <a:solidFill>
            <a:srgbClr val="E873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617720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核心考點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6309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鋼結構設計「梁柱桿件 Beam-Column」觀念講義｜原理 · 公式 · 向量圖解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TOPIC 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本單元的四個區塊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一、物理本質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 與 δ 同時存在 → 額外彎矩 P·δ → 回饋迴圈 → 收斂成放大係數 1/(1−P/Pcr)。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54496" y="16916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0528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1" name="Text 9"/>
          <p:cNvSpPr/>
          <p:nvPr/>
        </p:nvSpPr>
        <p:spPr>
          <a:xfrm>
            <a:off x="6510528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28816" y="25603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二、左腿：需求側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28816" y="29718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一階內力 Mnt、Mlt 經 B₁（構件自彎）與 B₂（整層側移）放大，得到 Mu。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" y="50749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三、右腿：強度側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54864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φcPn、φbMnx、φbMny 全部複用壓桿與梁桿單元的成果，不教新觀念。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54496" y="42062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0528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1" name="Text 19"/>
          <p:cNvSpPr/>
          <p:nvPr/>
        </p:nvSpPr>
        <p:spPr>
          <a:xfrm>
            <a:off x="6510528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28816" y="50749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四、兩腿會合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28816" y="54864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P-M 互制式計算「斷面能力被吃掉幾成」；ASD 走同一骨架但要驗兩條式子。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為什麼只有梁柱需要「放大」，純柱與純梁不用？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figs/bc-fig-1-three-memb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018848"/>
            <a:ext cx="6501384" cy="373470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純柱只有 P，桿身保持直線，δ = 0 → P×δ = 0，內力不會自我增長。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純梁只有 δ，沒有軸力可乘 → P×δ = 0，一階彎矩就是最終答案。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梁柱同時有 P 與 δ，乘積不為零：彎矩造成變形、變形又回餵更多彎矩。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所以本單元真正的新東西只有一個 —— 把一階彎矩放大的係數。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記住這張圖，就不會再問「這題到底要不要算 B₁」——只要柱子同時受壓又有彎矩，就要。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二階效應的本質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放大係數不是規範硬塞的，而是一個級數的和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軸力乘上側向位移，產生額外彎矩</a:t>
            </a:r>
            <a:endParaRPr lang="en-US" sz="1300" dirty="0"/>
          </a:p>
        </p:txBody>
      </p:sp>
      <p:pic>
        <p:nvPicPr>
          <p:cNvPr id="7" name="Image 0" descr="formula_imgs/f_d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7212" y="1847088"/>
            <a:ext cx="3410296" cy="920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每一圈的增量都是前一圈的 α = P/Pcr 倍，形成幾何級數</a:t>
            </a:r>
            <a:endParaRPr lang="en-US" sz="1300" dirty="0"/>
          </a:p>
        </p:txBody>
      </p:sp>
      <p:pic>
        <p:nvPicPr>
          <p:cNvPr id="11" name="Image 1" descr="formula_imgs/f_seri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3442621"/>
            <a:ext cx="7772400" cy="704279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級數收斂的結果，就是二階放大係數</a:t>
            </a:r>
            <a:endParaRPr lang="en-US" sz="1300" dirty="0"/>
          </a:p>
        </p:txBody>
      </p:sp>
      <p:pic>
        <p:nvPicPr>
          <p:cNvPr id="15" name="Image 2" descr="formula_imgs/f_am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2297" y="4821936"/>
            <a:ext cx="4240126" cy="9204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因為 α ≥ 0，級數各項皆為正，放大只會往上不會往下 —— 這就是規範規定 B₁、B₂ 恆 ≥ 1.0 的原因。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無窮迴圈怎麼會收斂成一個乾淨的分式？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figs/bc-fig-2-amplific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847" y="1892808"/>
            <a:ext cx="6401307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左圖：每疊代一圈，增量縮小為前一圈的 α 倍，四圈後已逼近 1.667 Mnt。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右圖：α → 1（軸力逼近挫屈載重）時分母趨近 0，放大係數發散 → 這就是挫屈的數學形式。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α = 0.8 時彎矩已被放大 5 倍：軸力比是梁柱題最敏感的輸入。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考場檢查：算出的 B 若小於 1.0 或為負，必定是 Pu/Pe 代錯或超過 1。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SOLVING FRAMEWORK · 解題骨架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進考場的第一個動作：在紙上畫出左右兩欄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figs/bc-fig-3-two-le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4407" y="1892808"/>
            <a:ext cx="8512706" cy="39867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兩欄法的價值在於「不會漏」：左欄漏了 B₂、右欄漏了弱軸上限，在會合前就會看出缺格。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需求側總式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左腿的終點：設計需求內力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設計彎矩 —— 兩個放大係數各自作用在對應的一階彎矩上</a:t>
            </a:r>
            <a:endParaRPr lang="en-US" sz="1300" dirty="0"/>
          </a:p>
        </p:txBody>
      </p:sp>
      <p:pic>
        <p:nvPicPr>
          <p:cNvPr id="7" name="Image 0" descr="formula_imgs/f_m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124370"/>
            <a:ext cx="7772400" cy="110964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設計軸力 —— 側移分量同樣要被 B₂ 放大</a:t>
            </a:r>
            <a:endParaRPr lang="en-US" sz="1300" dirty="0"/>
          </a:p>
        </p:txBody>
      </p:sp>
      <p:pic>
        <p:nvPicPr>
          <p:cNvPr id="11" name="Image 1" descr="formula_imgs/f_p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193701"/>
            <a:ext cx="7772400" cy="143325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Mnt = no translation（節點不平移時的一階彎矩）；Mlt = lateral translation（側移造成的一階彎矩）。兩者的來源不同，放大係數當然也不同 —— 這是整個單元的分水嶺。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OVERVIEW · 構架型式判斷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先判構架行為，才知道 K 值怎麼取、要不要算 B₂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27632"/>
            <a:ext cx="9875520" cy="512064"/>
          </a:xfrm>
          <a:prstGeom prst="roundRect">
            <a:avLst>
              <a:gd name="adj" fmla="val 14286"/>
            </a:avLst>
          </a:prstGeom>
          <a:solidFill>
            <a:srgbClr val="F4F6F9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627632"/>
            <a:ext cx="9326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讀題：這個構架有沒有斜撐／剪力牆／核心筒？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760720" y="2139696"/>
            <a:ext cx="0" cy="146304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114800" y="2286000"/>
            <a:ext cx="3291840" cy="777240"/>
          </a:xfrm>
          <a:prstGeom prst="diamond">
            <a:avLst/>
          </a:prstGeom>
          <a:solidFill>
            <a:srgbClr val="1B2A41"/>
          </a:solidFill>
          <a:ln/>
        </p:spPr>
      </p:sp>
      <p:sp>
        <p:nvSpPr>
          <p:cNvPr id="8" name="Text 6"/>
          <p:cNvSpPr/>
          <p:nvPr/>
        </p:nvSpPr>
        <p:spPr>
          <a:xfrm>
            <a:off x="4251960" y="2340864"/>
            <a:ext cx="30175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節點能不能相對側移？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760720" y="3063240"/>
            <a:ext cx="-2532888" cy="292608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991356" y="3081528"/>
            <a:ext cx="100584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3991356" y="30815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不能（有斜撐．無側移構架）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355848"/>
            <a:ext cx="4809744" cy="1389888"/>
          </a:xfrm>
          <a:prstGeom prst="roundRect">
            <a:avLst>
              <a:gd name="adj" fmla="val 4605"/>
            </a:avLst>
          </a:prstGeom>
          <a:solidFill>
            <a:srgbClr val="DCE6F0"/>
          </a:solidFill>
          <a:ln/>
        </p:spPr>
      </p:sp>
      <p:sp>
        <p:nvSpPr>
          <p:cNvPr id="13" name="Text 11"/>
          <p:cNvSpPr/>
          <p:nvPr/>
        </p:nvSpPr>
        <p:spPr>
          <a:xfrm>
            <a:off x="950976" y="3355848"/>
            <a:ext cx="4553712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M_lt = 0，整題只需要 B₁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有效長度 K = 1.0（非側移模式）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B₂ 完全用不到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760720" y="3063240"/>
            <a:ext cx="2532888" cy="292608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524244" y="3081528"/>
            <a:ext cx="100584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524244" y="30815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能（無斜撐．有側移構架）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88736" y="3355848"/>
            <a:ext cx="4809744" cy="1389888"/>
          </a:xfrm>
          <a:prstGeom prst="roundRect">
            <a:avLst>
              <a:gd name="adj" fmla="val 4605"/>
            </a:avLst>
          </a:prstGeom>
          <a:solidFill>
            <a:srgbClr val="DCE6F0"/>
          </a:solidFill>
          <a:ln/>
        </p:spPr>
      </p:sp>
      <p:sp>
        <p:nvSpPr>
          <p:cNvPr id="18" name="Text 16"/>
          <p:cNvSpPr/>
          <p:nvPr/>
        </p:nvSpPr>
        <p:spPr>
          <a:xfrm>
            <a:off x="6016752" y="3355848"/>
            <a:ext cx="4553712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把一階內力拆成 M_nt 與 M_lt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B₁ 仍用 K = 1.0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B₂ 用對位圖查得的側移 K（&gt; 1.0）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27832" y="4745736"/>
            <a:ext cx="2532888" cy="256032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293608" y="4745736"/>
            <a:ext cx="-2532888" cy="256032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22960" y="5001768"/>
            <a:ext cx="9875520" cy="512064"/>
          </a:xfrm>
          <a:prstGeom prst="roundRect">
            <a:avLst>
              <a:gd name="adj" fmla="val 14286"/>
            </a:avLst>
          </a:prstGeom>
          <a:solidFill>
            <a:srgbClr val="E8734A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5001768"/>
            <a:ext cx="9326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得到 Mu = B₁·Mnt + B₂·Mlt，左腿完成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22960" y="609904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「一支柱同時有兩個 K」不是矛盾，而是兩種二階效應各自對應一種變形模式。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左腿（一）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B₁：構件自彎的 P-δ 效應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構件放大係數（恆 ≥ 1.0）</a:t>
            </a:r>
            <a:endParaRPr lang="en-US" sz="1300" dirty="0"/>
          </a:p>
        </p:txBody>
      </p:sp>
      <p:pic>
        <p:nvPicPr>
          <p:cNvPr id="7" name="Image 0" descr="formula_imgs/f_b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1155" y="1847088"/>
            <a:ext cx="6862411" cy="166420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構件的尤拉載重 —— 有效長度一律取非側移模式</a:t>
            </a:r>
            <a:endParaRPr lang="en-US" sz="1300" dirty="0"/>
          </a:p>
        </p:txBody>
      </p:sp>
      <p:pic>
        <p:nvPicPr>
          <p:cNvPr id="11" name="Image 1" descr="formula_imgs/f_p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176408"/>
            <a:ext cx="7772400" cy="14678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Pe1 的 K₁ 一律取 1.0。把對位圖查來的側移 K 代進 Pe1 是本單元最高頻的失分點。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B₁ 在放大什麼？——桿件相對「自己的弦線」鼓出來的量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figs/bc-fig-4-b1-me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847" y="1892808"/>
            <a:ext cx="6401307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δ 的定義是「桿身相對兩端連線（弦線）的偏移」，與弦線本身有沒有傾斜無關。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所以即使整層完全不側移（有斜撐），B₁ 仍然存在、仍然要算。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因為端點不平移，Pe1 的有效長度用非側移模式：K = 1.0。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有斜撐構架 Mlt = 0，整題只要 B₁；這是最好拿分的題型。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左腿（一）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Cm：等值均勻彎矩係數，決定 B₁ 折不折減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兩端有彎矩、桿間無橫向載重時</a:t>
            </a:r>
            <a:endParaRPr lang="en-US" sz="1300" dirty="0"/>
          </a:p>
        </p:txBody>
      </p:sp>
      <p:pic>
        <p:nvPicPr>
          <p:cNvPr id="7" name="Image 0" descr="formula_imgs/f_c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0498" y="1847088"/>
            <a:ext cx="7423724" cy="166420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桿間有橫向載重時（依端部束制狀況取用）</a:t>
            </a:r>
            <a:endParaRPr lang="en-US" sz="1300" dirty="0"/>
          </a:p>
        </p:txBody>
      </p:sp>
      <p:pic>
        <p:nvPicPr>
          <p:cNvPr id="11" name="Image 1" descr="formula_imgs/f_cm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666017"/>
            <a:ext cx="7772400" cy="4886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符號規則：單曲率（C 型）M₁/M₂ 取負 → Cm 變大（最危險，不折減）；雙曲率（S 型）取正 → Cm 變小（可大幅折減）。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為什麼雙曲率可以折減？Cm 其實在問「同不同步」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figs/bc-fig-5-cm-curva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847" y="1892808"/>
            <a:ext cx="6401307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單曲率：彎矩全段同號，最大 δ 恰好落在彎矩也大的位置 → P·δ 完全疊加，不折減。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雙曲率：彎矩沿桿變號、中央過零，而 δ 最大的地方彎矩接近 0 → 兩者不同步，可折減。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同一支桿、同一個 Pu，Cm 從 1.0 變成 0.2，B₁ 直接差 5 倍。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判斷訣竅：畫出變形形狀，C 型取負、S 型取正，不要背符號表。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左腿（二）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B₂：整層側移的 P-Δ 效應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樓層放大係數 —— 注意 Σ 是「整個樓層」</a:t>
            </a:r>
            <a:endParaRPr lang="en-US" sz="1300" dirty="0"/>
          </a:p>
        </p:txBody>
      </p:sp>
      <p:pic>
        <p:nvPicPr>
          <p:cNvPr id="7" name="Image 0" descr="formula_imgs/f_b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3864" y="1847088"/>
            <a:ext cx="2576992" cy="920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側移模式的尤拉載重（K₂ 由對位圖查得，恆 &gt; 1.0）</a:t>
            </a:r>
            <a:endParaRPr lang="en-US" sz="1300" dirty="0"/>
          </a:p>
        </p:txBody>
      </p:sp>
      <p:pic>
        <p:nvPicPr>
          <p:cNvPr id="11" name="Image 1" descr="formula_imgs/f_p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5287" y="3334512"/>
            <a:ext cx="4874145" cy="9204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等效寫法：用一階側移量 Δoh 與樓層剪力直接算</a:t>
            </a:r>
            <a:endParaRPr lang="en-US" sz="1300" dirty="0"/>
          </a:p>
        </p:txBody>
      </p:sp>
      <p:pic>
        <p:nvPicPr>
          <p:cNvPr id="15" name="Image 2" descr="formula_imgs/f_b2a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9535" y="4821936"/>
            <a:ext cx="2005650" cy="9204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B₁ 的 Pu、Pe1 屬於「這一支桿」；B₂ 的 ΣPu、ΣPe2 屬於「這一層樓」。層與桿混用是本單元最大宗的失分點。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靠桿（重力柱）為什麼只進分子、不進分母？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figs/bc-fig-6-b2-story-lea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847" y="1892808"/>
            <a:ext cx="6401307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靠桿兩端鉸接，提供不了任何抗側勁度 → 不列入分母 ΣPe2。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但它的重力必須由抗側系統拉住才不會倒 → 重量要算進分子 ΣPu。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本例漏算靠桿，B₂ 從 1.171 掉到 1.091，彎矩低估 6.8%，而且是偏不安全的方向。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考場檢查：分子的柱數應該等於整層柱數，分母只數抗側構架的柱。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KNOWLEDGE CARD · 對照表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B₁ 與 B₂ 的七個關鍵差異（背這張就夠）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4572000"/>
                <a:gridCol w="45720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比較項目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B₁（P-δ．構件自彎）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B₂（P-Δ．整層側移）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作用對象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單一構件，相對自身弦線的鼓出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整個樓層，所有柱一起側移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有效長度 K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非側移模式，實務一律取 K = 1.0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側移模式，由對位圖查得，K &gt; 1.0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分子軸力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該支桿自己的 Pu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ΣPu：全樓層柱的軸力，含鉸接靠桿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分母尤拉載重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Pe1 = π²EI /(1.0·L)²，單桿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ΣPe2：只計抗側系統提供的勁度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折減係數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有 Cm = 0.6 − 0.4(M₁/M₂)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無 Cm，整層一起放大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何時不必算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恆須計算（只要有 Pu 與 M）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無側移構架 Mlt = 0 時用不到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常見錯誤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誤用側移 K 去算 Pe1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漏算靠桿重量；把單桿當成整層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右腿（一）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強度側：軸壓強度 φcPn（完全複用壓桿單元）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設計軸壓強度</a:t>
            </a:r>
            <a:endParaRPr lang="en-US" sz="1300" dirty="0"/>
          </a:p>
        </p:txBody>
      </p:sp>
      <p:pic>
        <p:nvPicPr>
          <p:cNvPr id="7" name="Image 0" descr="formula_imgs/f_p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2490" y="1847088"/>
            <a:ext cx="4999740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細長參數 —— 強弱軸各算一次，取較大的 KL/r 控制</a:t>
            </a:r>
            <a:endParaRPr lang="en-US" sz="1300" dirty="0"/>
          </a:p>
        </p:txBody>
      </p:sp>
      <p:pic>
        <p:nvPicPr>
          <p:cNvPr id="11" name="Image 1" descr="formula_imgs/f_lam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638" y="2962656"/>
            <a:ext cx="1407444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非彈性挫屈（含殘留應力效應）</a:t>
            </a:r>
            <a:endParaRPr lang="en-US" sz="1300" dirty="0"/>
          </a:p>
        </p:txBody>
      </p:sp>
      <p:pic>
        <p:nvPicPr>
          <p:cNvPr id="15" name="Image 2" descr="formula_imgs/f_fcr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3506" y="4078224"/>
            <a:ext cx="4117708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彈性挫屈（Euler）</a:t>
            </a:r>
            <a:endParaRPr lang="en-US" sz="1300" dirty="0"/>
          </a:p>
        </p:txBody>
      </p:sp>
      <p:pic>
        <p:nvPicPr>
          <p:cNvPr id="19" name="Image 3" descr="formula_imgs/f_fcr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8495" y="5193792"/>
            <a:ext cx="3187731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右腿不教新觀念，只是把 U1-1（壓桿）與 U1-2（梁桿）的成果搬過來用。時間不足時，右腿要算得又快又穩。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柱曲線的兩段式從哪裡分界？λc = 1.5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figs/bc-fig-7-column-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847" y="1892808"/>
            <a:ext cx="6401307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λc ≤ 1.5：短粗柱，殘留應力使斷面提早局部降伏 → 用 0.658 的指數式。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λc &gt; 1.5：細長柱，破壞前仍在彈性 → 回到 Euler 的 0.877/λc²（0.877 是初始偏心折減）。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本例 Fy = 2.5 tf/cm² 時分界落在 KL/r ≈ 135，可當作快速判斷的心算值。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強弱軸都要算 KL/r，但只有較大者控制 φcPn；另一軸的 I 會回頭決定 B₁ 的 Pe1。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右腿（二）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強度側：強軸看 LTB，弱軸看形狀因數上限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強軸．塑性區段（Lb ≤ Lp）</a:t>
            </a:r>
            <a:endParaRPr lang="en-US" sz="1300" dirty="0"/>
          </a:p>
        </p:txBody>
      </p:sp>
      <p:pic>
        <p:nvPicPr>
          <p:cNvPr id="7" name="Image 0" descr="formula_imgs/f_m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945451"/>
            <a:ext cx="7772400" cy="72377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強軸．非彈性 LTB（Lp &lt; Lb ≤ Lr）直線內插</a:t>
            </a:r>
            <a:endParaRPr lang="en-US" sz="1300" dirty="0"/>
          </a:p>
        </p:txBody>
      </p:sp>
      <p:pic>
        <p:nvPicPr>
          <p:cNvPr id="11" name="Image 1" descr="formula_imgs/f_mlt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5993" y="3334512"/>
            <a:ext cx="7392734" cy="9204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弱軸．沒有 LTB，但受矩形形狀因數上限控制</a:t>
            </a:r>
            <a:endParaRPr lang="en-US" sz="1300" dirty="0"/>
          </a:p>
        </p:txBody>
      </p:sp>
      <p:pic>
        <p:nvPicPr>
          <p:cNvPr id="15" name="Image 2" descr="formula_imgs/f_mn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4884883"/>
            <a:ext cx="7772400" cy="79460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題目同時給你 Zy 與 Sy，就是在提示 1.5FySy 這個上限要檢查 —— 這是弱軸最常被漏掉的一刀。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Lb 落在哪一段，決定 Mn 用哪一條式子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figs/bc-fig-8-ltb-zon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847" y="1892808"/>
            <a:ext cx="6401307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Lb ≤ Lp：側撐夠密，斷面可完全塑化 → Mn = Mp，與 Lb 無關（水平段）。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Lp &lt; Lb ≤ Lr：部分斷面已因殘留應力降伏 → 在 Mp 與 Mr 之間直線內插。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Lb &gt; Lr：彈性側向扭轉挫屈，Mn 隨 Lb 快速衰減（曲線段）。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弱軸沒有這三段 —— 弱軸不會側傾，直接由 min(FyZy, 1.5FySy) 控制。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兩腿會合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P-M 互制方程式：先判區間，再選式子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第一步永遠是判斷軸力比落在哪一區</a:t>
            </a:r>
            <a:endParaRPr lang="en-US" sz="1300" dirty="0"/>
          </a:p>
        </p:txBody>
      </p:sp>
      <p:pic>
        <p:nvPicPr>
          <p:cNvPr id="7" name="Image 0" descr="formula_imgs/f_h1co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909786"/>
            <a:ext cx="7772400" cy="79509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軸力主控（彎矩項乘 8/9）</a:t>
            </a:r>
            <a:endParaRPr lang="en-US" sz="1300" dirty="0"/>
          </a:p>
        </p:txBody>
      </p:sp>
      <p:pic>
        <p:nvPicPr>
          <p:cNvPr id="11" name="Image 1" descr="formula_imgs/f_h1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1625" y="3334512"/>
            <a:ext cx="5341470" cy="9204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彎矩主控（軸力項乘 1/2）</a:t>
            </a:r>
            <a:endParaRPr lang="en-US" sz="1300" dirty="0"/>
          </a:p>
        </p:txBody>
      </p:sp>
      <p:pic>
        <p:nvPicPr>
          <p:cNvPr id="15" name="Image 2" descr="formula_imgs/f_h1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7555" y="4821936"/>
            <a:ext cx="5289611" cy="9204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兩式在 Pu/φcPn = 0.2 處數值連續（皆為 0.90），是同一條包絡線的兩段，不是兩個獨立檢核。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互制式在量什麼？——斷面能力被吃掉的百分比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figs/bc-fig-9-pm-intera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847" y="1892808"/>
            <a:ext cx="6401307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縱軸是軸力用掉的比例，橫軸是彎矩用掉的比例；落在包絡線內就是安全。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軸力大時彎矩項權重 8/9（較嚴），軸力小時軸力項權重只有 1/2（較寬）。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選錯式子，彎矩項的權重會差 1.8 倍（8/9 對 1/2），答案直接錯一個量級。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利用率正常落在 0.8 ~ 1.0；算出 0.2 或 3.0 幾乎都是單位或放大係數出錯。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自我檢查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雙軸彎矩題：B₁x 與 B₁y 為什麼絕對不能共用？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figs/bc-fig-10-weak-vs-str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847" y="1892808"/>
            <a:ext cx="6401307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Pe1 正比於 I，所以弱軸的 Pe1 只有強軸的 Iy/Ix 倍（本例 0.336）。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同樣的 Pu，弱軸的軸力比 0.743 遠高於強軸的 0.250 → B₁y = 3.90 vs B₁x = 1.33。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1/(1−α) 是非線性的，軸力比差 3 倍，放大倍率會差得更多（本例 2.9 倍）。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考場自我檢查：算完後確認 Pe1y / Pe1x 是否剛好等於 Iy / Ix，不等就是代錯 I。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ASD 對照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ASD 走同一骨架，但必須驗兩條式子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穩定式（中段控制）—— 放大倍率藏在分母裡</a:t>
            </a:r>
            <a:endParaRPr lang="en-US" sz="1300" dirty="0"/>
          </a:p>
        </p:txBody>
      </p:sp>
      <p:pic>
        <p:nvPicPr>
          <p:cNvPr id="7" name="Image 0" descr="formula_imgs/f_asd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9237" y="1847088"/>
            <a:ext cx="3046246" cy="920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強度式（端部控制）—— 端部無二階彎矩，但要防斷面降伏</a:t>
            </a:r>
            <a:endParaRPr lang="en-US" sz="1300" dirty="0"/>
          </a:p>
        </p:txBody>
      </p:sp>
      <p:pic>
        <p:nvPicPr>
          <p:cNvPr id="11" name="Image 1" descr="formula_imgs/f_asd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5866" y="3334512"/>
            <a:ext cx="2892987" cy="9204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ASD 的尤拉應力（注意是 rb：彎曲平面內的迴轉半徑）</a:t>
            </a:r>
            <a:endParaRPr lang="en-US" sz="1300" dirty="0"/>
          </a:p>
        </p:txBody>
      </p:sp>
      <p:pic>
        <p:nvPicPr>
          <p:cNvPr id="15" name="Image 2" descr="formula_imgs/f_f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8866" y="4821936"/>
            <a:ext cx="2866989" cy="9204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只驗穩定式而漏掉端部強度式，是 ASD 題最典型的扣分方式；fa/Fa ≤ 0.15 時才可用簡化式 fa/Fa + fb/Fb ≤ 1.0。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KNOWLEDGE CARD · 對照表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LRFD 與 ASD：同一個骨架的兩種寫法</a:t>
            </a:r>
            <a:endParaRPr lang="en-US" sz="2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480560"/>
                <a:gridCol w="45720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比較項目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LRFD（極限設計法）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ASD（許用應力法）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放大的對象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放大彎矩：Mu = B₁Mnt + B₂Mlt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放大應力項：Cm /(1 − fa/F'e)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檢核式數量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一式（H1-1a 或 H1-1b 擇一）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兩式都要：穩定式 ＋ 強度式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穩定（中段）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已含在 H1-1 之中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fa/Fa + Cm·fb /[(1 − fa/F'e)Fb] ≤ 1.0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強度（端部）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由放大後的 Mu 直接反映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fa/(0.6Fy) + fb/Fb ≤ 1.0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小軸力的處理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Pu/φcPn &lt; 0.2 改用 H1-1b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fa/Fa ≤ 0.15 可用簡化式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二階項的來源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B₁（Pe1）、B₂（ΣPe2）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F'e = 12π²E /[23(KL/rb)²]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SOLUTION FLOW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02920" y="530352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30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流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實戰解題流：從題目到利用率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23444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左腿與右腿平行推進，最後在 P-M 互制式會合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0" y="5029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SS · Beam-Column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1B2A41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梁柱題目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90749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1" name="Text 9"/>
          <p:cNvSpPr/>
          <p:nvPr/>
        </p:nvSpPr>
        <p:spPr>
          <a:xfrm>
            <a:off x="2918765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一階分析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Mnt, Mlt, Pu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78578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13" name="Text 11"/>
          <p:cNvSpPr/>
          <p:nvPr/>
        </p:nvSpPr>
        <p:spPr>
          <a:xfrm>
            <a:off x="5206594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有無側撐？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66406" y="1481328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DCE6F0"/>
          </a:solidFill>
          <a:ln/>
        </p:spPr>
      </p:sp>
      <p:sp>
        <p:nvSpPr>
          <p:cNvPr id="15" name="Text 13"/>
          <p:cNvSpPr/>
          <p:nvPr/>
        </p:nvSpPr>
        <p:spPr>
          <a:xfrm>
            <a:off x="7476134" y="1481328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有撐：Mlt = 0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只需要算 B₁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66406" y="1933956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FBE1DE"/>
          </a:solidFill>
          <a:ln/>
        </p:spPr>
      </p:sp>
      <p:sp>
        <p:nvSpPr>
          <p:cNvPr id="17" name="Text 15"/>
          <p:cNvSpPr/>
          <p:nvPr/>
        </p:nvSpPr>
        <p:spPr>
          <a:xfrm>
            <a:off x="7476134" y="1933956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無撐：Mnt / Mlt 拆開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B₁ 與 B₂ 都要算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654235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9" name="Text 17"/>
          <p:cNvSpPr/>
          <p:nvPr/>
        </p:nvSpPr>
        <p:spPr>
          <a:xfrm>
            <a:off x="9782251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判單/雙曲率 → Cm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Pe1 (K=1.0) → B₁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654235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1" name="Text 19"/>
          <p:cNvSpPr/>
          <p:nvPr/>
        </p:nvSpPr>
        <p:spPr>
          <a:xfrm>
            <a:off x="9782251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ΣPu / ΣPe2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（側移 K）→ B₂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66406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3" name="Text 21"/>
          <p:cNvSpPr/>
          <p:nvPr/>
        </p:nvSpPr>
        <p:spPr>
          <a:xfrm>
            <a:off x="7494422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Mu = B₁Mnt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+ B₂Mlt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78578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5" name="Text 23"/>
          <p:cNvSpPr/>
          <p:nvPr/>
        </p:nvSpPr>
        <p:spPr>
          <a:xfrm>
            <a:off x="5206594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φcPn：KL/r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取較大者控制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90749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7" name="Text 25"/>
          <p:cNvSpPr/>
          <p:nvPr/>
        </p:nvSpPr>
        <p:spPr>
          <a:xfrm>
            <a:off x="2918765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φbMnx（LTB 三段）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φbMny（1.5FySy）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29" name="Text 27"/>
          <p:cNvSpPr/>
          <p:nvPr/>
        </p:nvSpPr>
        <p:spPr>
          <a:xfrm>
            <a:off x="630936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Pu/φcPn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≥ 0.2 ？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534717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822546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110374" y="1901952"/>
            <a:ext cx="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110374" y="1901952"/>
            <a:ext cx="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398203" y="1675638"/>
            <a:ext cx="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398203" y="2128266"/>
            <a:ext cx="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670134" y="2322576"/>
            <a:ext cx="0" cy="45720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654235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7366406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5078578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2790749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1518818" y="3621024"/>
            <a:ext cx="0" cy="41148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502920" y="4032504"/>
            <a:ext cx="2031797" cy="749808"/>
          </a:xfrm>
          <a:prstGeom prst="roundRect">
            <a:avLst>
              <a:gd name="adj" fmla="val 9756"/>
            </a:avLst>
          </a:prstGeom>
          <a:solidFill>
            <a:srgbClr val="1E8449"/>
          </a:solidFill>
          <a:ln/>
        </p:spPr>
      </p:sp>
      <p:sp>
        <p:nvSpPr>
          <p:cNvPr id="43" name="Text 41"/>
          <p:cNvSpPr/>
          <p:nvPr/>
        </p:nvSpPr>
        <p:spPr>
          <a:xfrm>
            <a:off x="630936" y="4032504"/>
            <a:ext cx="177576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H1-1a 或 H1-1b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利用率 ≤ 1.0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2809037" y="4032504"/>
            <a:ext cx="8876995" cy="749808"/>
          </a:xfrm>
          <a:prstGeom prst="roundRect">
            <a:avLst>
              <a:gd name="adj" fmla="val 9756"/>
            </a:avLst>
          </a:prstGeom>
          <a:solidFill>
            <a:srgbClr val="FBE1DE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91917" y="4032504"/>
            <a:ext cx="85112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雙軸彎矩分支　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Mux 與 Muy 必須各自用 B₁x、B₁y 放大；弱軸 Pe1 小，放大倍率遠大於強軸，不可共用一個 B₁。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502920" y="5943600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2A3F5A"/>
          </a:solidFill>
          <a:ln/>
        </p:spPr>
      </p:sp>
      <p:sp>
        <p:nvSpPr>
          <p:cNvPr id="47" name="Text 45"/>
          <p:cNvSpPr/>
          <p:nvPr/>
        </p:nvSpPr>
        <p:spPr>
          <a:xfrm>
            <a:off x="731520" y="60167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交卷前的三個驗證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731520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9" name="Text 47"/>
          <p:cNvSpPr/>
          <p:nvPr/>
        </p:nvSpPr>
        <p:spPr>
          <a:xfrm>
            <a:off x="950976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 值沒混用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Pe1 用 K=1.0，Pe2 才用側移 K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306824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51" name="Text 49"/>
          <p:cNvSpPr/>
          <p:nvPr/>
        </p:nvSpPr>
        <p:spPr>
          <a:xfrm>
            <a:off x="4526280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靠桿有算進 ΣPu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分子含全樓層，分母只含抗側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882128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53" name="Text 51"/>
          <p:cNvSpPr/>
          <p:nvPr/>
        </p:nvSpPr>
        <p:spPr>
          <a:xfrm>
            <a:off x="8101584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利用率量級合理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正常落在 0.8 ~ 1.0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· 考前速查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梁柱桿件｜全公式一頁速查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設計彎矩</a:t>
            </a:r>
            <a:endParaRPr lang="en-US" sz="1050" dirty="0"/>
          </a:p>
        </p:txBody>
      </p:sp>
      <p:pic>
        <p:nvPicPr>
          <p:cNvPr id="7" name="Image 0" descr="formula_imgs/f_m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088535"/>
            <a:ext cx="2462022" cy="351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321558" y="155448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3321558" y="155448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3431286" y="164592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B₁ 構件放大</a:t>
            </a:r>
            <a:endParaRPr lang="en-US" sz="1050" dirty="0"/>
          </a:p>
        </p:txBody>
      </p:sp>
      <p:pic>
        <p:nvPicPr>
          <p:cNvPr id="11" name="Image 1" descr="formula_imgs/f_b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1286" y="1965750"/>
            <a:ext cx="2462022" cy="597067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185916" y="155448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6185916" y="155448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6295644" y="164592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Pe1（K = 1.0）</a:t>
            </a:r>
            <a:endParaRPr lang="en-US" sz="1050" dirty="0"/>
          </a:p>
        </p:txBody>
      </p:sp>
      <p:pic>
        <p:nvPicPr>
          <p:cNvPr id="15" name="Image 2" descr="formula_imgs/f_pe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5644" y="2031803"/>
            <a:ext cx="2462022" cy="46496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050274" y="155448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9050274" y="155448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9160002" y="164592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Cm 係數</a:t>
            </a:r>
            <a:endParaRPr lang="en-US" sz="1050" dirty="0"/>
          </a:p>
        </p:txBody>
      </p:sp>
      <p:pic>
        <p:nvPicPr>
          <p:cNvPr id="19" name="Image 3" descr="formula_imgs/f_c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0002" y="1988322"/>
            <a:ext cx="2462022" cy="55192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57200" y="284607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57200" y="284607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566928" y="293751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B₂ 樓層放大</a:t>
            </a:r>
            <a:endParaRPr lang="en-US" sz="1050" dirty="0"/>
          </a:p>
        </p:txBody>
      </p:sp>
      <p:pic>
        <p:nvPicPr>
          <p:cNvPr id="23" name="Image 4" descr="formula_imgs/f_b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965" y="3230118"/>
            <a:ext cx="1823947" cy="65151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3321558" y="284607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3321558" y="284607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3431286" y="293751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Pe2（側移 K）</a:t>
            </a:r>
            <a:endParaRPr lang="en-US" sz="1050" dirty="0"/>
          </a:p>
        </p:txBody>
      </p:sp>
      <p:pic>
        <p:nvPicPr>
          <p:cNvPr id="27" name="Image 5" descr="formula_imgs/f_pe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1286" y="3323393"/>
            <a:ext cx="2462022" cy="464960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6185916" y="284607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6185916" y="284607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6295644" y="293751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雙軸自我檢查</a:t>
            </a:r>
            <a:endParaRPr lang="en-US" sz="1050" dirty="0"/>
          </a:p>
        </p:txBody>
      </p:sp>
      <p:pic>
        <p:nvPicPr>
          <p:cNvPr id="31" name="Image 6" descr="formula_imgs/f_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9242" y="3230118"/>
            <a:ext cx="1134826" cy="651510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9050274" y="284607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9050274" y="284607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9160002" y="293751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軸壓強度</a:t>
            </a:r>
            <a:endParaRPr lang="en-US" sz="1050" dirty="0"/>
          </a:p>
        </p:txBody>
      </p:sp>
      <p:pic>
        <p:nvPicPr>
          <p:cNvPr id="35" name="Image 7" descr="formula_imgs/f_p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0002" y="3420790"/>
            <a:ext cx="2462022" cy="270167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457200" y="413766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37" name="Shape 27"/>
          <p:cNvSpPr/>
          <p:nvPr/>
        </p:nvSpPr>
        <p:spPr>
          <a:xfrm>
            <a:off x="457200" y="413766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8" name="Text 28"/>
          <p:cNvSpPr/>
          <p:nvPr/>
        </p:nvSpPr>
        <p:spPr>
          <a:xfrm>
            <a:off x="566928" y="422910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非彈性挫屈</a:t>
            </a:r>
            <a:endParaRPr lang="en-US" sz="1050" dirty="0"/>
          </a:p>
        </p:txBody>
      </p:sp>
      <p:pic>
        <p:nvPicPr>
          <p:cNvPr id="39" name="Image 8" descr="formula_imgs/f_fcr1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6928" y="4683444"/>
            <a:ext cx="2462022" cy="328038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3321558" y="413766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41" name="Shape 30"/>
          <p:cNvSpPr/>
          <p:nvPr/>
        </p:nvSpPr>
        <p:spPr>
          <a:xfrm>
            <a:off x="3321558" y="413766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2" name="Text 31"/>
          <p:cNvSpPr/>
          <p:nvPr/>
        </p:nvSpPr>
        <p:spPr>
          <a:xfrm>
            <a:off x="3431286" y="422910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彈性挫屈</a:t>
            </a:r>
            <a:endParaRPr lang="en-US" sz="1050" dirty="0"/>
          </a:p>
        </p:txBody>
      </p:sp>
      <p:pic>
        <p:nvPicPr>
          <p:cNvPr id="43" name="Image 9" descr="formula_imgs/f_fcr2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31286" y="4635594"/>
            <a:ext cx="2462022" cy="423738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6185916" y="413766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45" name="Shape 33"/>
          <p:cNvSpPr/>
          <p:nvPr/>
        </p:nvSpPr>
        <p:spPr>
          <a:xfrm>
            <a:off x="6185916" y="413766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6" name="Text 34"/>
          <p:cNvSpPr/>
          <p:nvPr/>
        </p:nvSpPr>
        <p:spPr>
          <a:xfrm>
            <a:off x="6295644" y="422910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強軸塑性</a:t>
            </a:r>
            <a:endParaRPr lang="en-US" sz="1050" dirty="0"/>
          </a:p>
        </p:txBody>
      </p:sp>
      <p:pic>
        <p:nvPicPr>
          <p:cNvPr id="47" name="Image 10" descr="formula_imgs/f_mp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95644" y="4732831"/>
            <a:ext cx="2462022" cy="229265"/>
          </a:xfrm>
          <a:prstGeom prst="rect">
            <a:avLst/>
          </a:prstGeom>
        </p:spPr>
      </p:pic>
      <p:sp>
        <p:nvSpPr>
          <p:cNvPr id="48" name="Shape 35"/>
          <p:cNvSpPr/>
          <p:nvPr/>
        </p:nvSpPr>
        <p:spPr>
          <a:xfrm>
            <a:off x="9050274" y="413766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49" name="Shape 36"/>
          <p:cNvSpPr/>
          <p:nvPr/>
        </p:nvSpPr>
        <p:spPr>
          <a:xfrm>
            <a:off x="9050274" y="413766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0" name="Text 37"/>
          <p:cNvSpPr/>
          <p:nvPr/>
        </p:nvSpPr>
        <p:spPr>
          <a:xfrm>
            <a:off x="9160002" y="422910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非彈性 LTB</a:t>
            </a:r>
            <a:endParaRPr lang="en-US" sz="1050" dirty="0"/>
          </a:p>
        </p:txBody>
      </p:sp>
      <p:pic>
        <p:nvPicPr>
          <p:cNvPr id="51" name="Image 11" descr="formula_imgs/f_mltb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60002" y="4694185"/>
            <a:ext cx="2462022" cy="306555"/>
          </a:xfrm>
          <a:prstGeom prst="rect">
            <a:avLst/>
          </a:prstGeom>
        </p:spPr>
      </p:pic>
      <p:sp>
        <p:nvSpPr>
          <p:cNvPr id="52" name="Shape 38"/>
          <p:cNvSpPr/>
          <p:nvPr/>
        </p:nvSpPr>
        <p:spPr>
          <a:xfrm>
            <a:off x="457200" y="542925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53" name="Shape 39"/>
          <p:cNvSpPr/>
          <p:nvPr/>
        </p:nvSpPr>
        <p:spPr>
          <a:xfrm>
            <a:off x="457200" y="542925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4" name="Text 40"/>
          <p:cNvSpPr/>
          <p:nvPr/>
        </p:nvSpPr>
        <p:spPr>
          <a:xfrm>
            <a:off x="566928" y="552069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弱軸上限</a:t>
            </a:r>
            <a:endParaRPr lang="en-US" sz="1050" dirty="0"/>
          </a:p>
        </p:txBody>
      </p:sp>
      <p:pic>
        <p:nvPicPr>
          <p:cNvPr id="55" name="Image 12" descr="formula_imgs/f_mny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6928" y="6013202"/>
            <a:ext cx="2462022" cy="251702"/>
          </a:xfrm>
          <a:prstGeom prst="rect">
            <a:avLst/>
          </a:prstGeom>
        </p:spPr>
      </p:pic>
      <p:sp>
        <p:nvSpPr>
          <p:cNvPr id="56" name="Shape 41"/>
          <p:cNvSpPr/>
          <p:nvPr/>
        </p:nvSpPr>
        <p:spPr>
          <a:xfrm>
            <a:off x="3321558" y="542925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57" name="Shape 42"/>
          <p:cNvSpPr/>
          <p:nvPr/>
        </p:nvSpPr>
        <p:spPr>
          <a:xfrm>
            <a:off x="3321558" y="542925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8" name="Text 43"/>
          <p:cNvSpPr/>
          <p:nvPr/>
        </p:nvSpPr>
        <p:spPr>
          <a:xfrm>
            <a:off x="3431286" y="552069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H1-1a 軸力主控</a:t>
            </a:r>
            <a:endParaRPr lang="en-US" sz="1050" dirty="0"/>
          </a:p>
        </p:txBody>
      </p:sp>
      <p:pic>
        <p:nvPicPr>
          <p:cNvPr id="59" name="Image 13" descr="formula_imgs/f_h1a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31286" y="5926913"/>
            <a:ext cx="2462022" cy="424280"/>
          </a:xfrm>
          <a:prstGeom prst="rect">
            <a:avLst/>
          </a:prstGeom>
        </p:spPr>
      </p:pic>
      <p:sp>
        <p:nvSpPr>
          <p:cNvPr id="60" name="Shape 44"/>
          <p:cNvSpPr/>
          <p:nvPr/>
        </p:nvSpPr>
        <p:spPr>
          <a:xfrm>
            <a:off x="6185916" y="542925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61" name="Shape 45"/>
          <p:cNvSpPr/>
          <p:nvPr/>
        </p:nvSpPr>
        <p:spPr>
          <a:xfrm>
            <a:off x="6185916" y="542925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2" name="Text 46"/>
          <p:cNvSpPr/>
          <p:nvPr/>
        </p:nvSpPr>
        <p:spPr>
          <a:xfrm>
            <a:off x="6295644" y="552069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H1-1b 彎矩主控</a:t>
            </a:r>
            <a:endParaRPr lang="en-US" sz="1050" dirty="0"/>
          </a:p>
        </p:txBody>
      </p:sp>
      <p:pic>
        <p:nvPicPr>
          <p:cNvPr id="63" name="Image 14" descr="formula_imgs/f_h1b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95644" y="5924833"/>
            <a:ext cx="2462022" cy="428440"/>
          </a:xfrm>
          <a:prstGeom prst="rect">
            <a:avLst/>
          </a:prstGeom>
        </p:spPr>
      </p:pic>
      <p:sp>
        <p:nvSpPr>
          <p:cNvPr id="64" name="Shape 47"/>
          <p:cNvSpPr/>
          <p:nvPr/>
        </p:nvSpPr>
        <p:spPr>
          <a:xfrm>
            <a:off x="9050274" y="542925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65" name="Shape 48"/>
          <p:cNvSpPr/>
          <p:nvPr/>
        </p:nvSpPr>
        <p:spPr>
          <a:xfrm>
            <a:off x="9050274" y="542925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6" name="Text 49"/>
          <p:cNvSpPr/>
          <p:nvPr/>
        </p:nvSpPr>
        <p:spPr>
          <a:xfrm>
            <a:off x="9160002" y="552069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ASD 穩定式</a:t>
            </a:r>
            <a:endParaRPr lang="en-US" sz="1050" dirty="0"/>
          </a:p>
        </p:txBody>
      </p:sp>
      <p:pic>
        <p:nvPicPr>
          <p:cNvPr id="67" name="Image 15" descr="formula_imgs/f_asd1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12975" y="5813298"/>
            <a:ext cx="2156076" cy="65151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高頻陷阱精選：這六個一定要在考場上想起來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把側移 K 拿去算 Pe1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37744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Pe1 一律取 K = 1.0（非側移模式）。對位圖查來的側移 K（&gt; 1.0）只屬於 B₂ 的 Pe2。同一支柱有兩個 K 是正常的。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31636" y="16916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10" name="Shape 8"/>
          <p:cNvSpPr/>
          <p:nvPr/>
        </p:nvSpPr>
        <p:spPr>
          <a:xfrm>
            <a:off x="6432804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6432804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71716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Cm 的 M₁/M₂ 符號代反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32804" y="237744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單曲率（C 型）取負 → Cm 變大、不折減；雙曲率（S 型）取正 → Cm 變小。先畫變形形狀再判符號，不要背表。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356616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54787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B₂ 的 Σ 只算了抗側柱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49808" y="406908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分子 ΣPu 必須含鉸接靠桿（重力柱）的軸力；分母 ΣPe2 才只計抗側系統。漏算靠桿會低估彎矩，方向偏不安全。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31636" y="338328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32804" y="356616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1" name="Text 19"/>
          <p:cNvSpPr/>
          <p:nvPr/>
        </p:nvSpPr>
        <p:spPr>
          <a:xfrm>
            <a:off x="6432804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71716" y="354787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弱軸忘了 1.5FySy 上限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32804" y="406908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弱軸沒有側向扭轉挫屈，但受矩形形狀因數上限控制。題目同時給 Zy 與 Sy，就是在提示你必須取 min(FyZy, 1.5FySy)。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525780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8720" y="523951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雙軸彎矩共用一個 B₁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49808" y="576072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弱軸 Pe1 小得多，同樣的 Pu 會吃掉更高比例，B₁y 往往是 B₁x 的好幾倍。務必分開算，並檢查 Pe1y/Pe1x = Iy/Ix。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31636" y="50749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30" name="Shape 28"/>
          <p:cNvSpPr/>
          <p:nvPr/>
        </p:nvSpPr>
        <p:spPr>
          <a:xfrm>
            <a:off x="6432804" y="525780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1" name="Text 29"/>
          <p:cNvSpPr/>
          <p:nvPr/>
        </p:nvSpPr>
        <p:spPr>
          <a:xfrm>
            <a:off x="6432804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71716" y="523951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ASD 只驗了穩定式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432804" y="576072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端部強度式 fa/(0.6Fy) + fb/Fb ≤ 1.0 也必須檢核。端部雖無二階彎矩，但要防止端部斷面直接降伏。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937760"/>
            <a:ext cx="3108960" cy="3108960"/>
          </a:xfrm>
          <a:prstGeom prst="ellipse">
            <a:avLst/>
          </a:prstGeom>
          <a:solidFill>
            <a:srgbClr val="4C6B8A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考前總複習｜重點回顧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梁柱桿件｜重點回顧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881360" cy="662026"/>
          </a:xfrm>
          <a:prstGeom prst="roundRect">
            <a:avLst>
              <a:gd name="adj" fmla="val 8287"/>
            </a:avLst>
          </a:prstGeom>
          <a:solidFill>
            <a:srgbClr val="24384F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479853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7985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2286000"/>
            <a:ext cx="100584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梁柱是全鋼結構唯一「內力會自己長大」的構材：P 與 δ 同時存在，一階彎矩不能直接用。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149194"/>
            <a:ext cx="10881360" cy="662026"/>
          </a:xfrm>
          <a:prstGeom prst="roundRect">
            <a:avLst>
              <a:gd name="adj" fmla="val 8287"/>
            </a:avLst>
          </a:prstGeom>
          <a:solidFill>
            <a:srgbClr val="24384F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343046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34304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3149194"/>
            <a:ext cx="100584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左腿需求側：B₁ 管構件自彎（K = 1.0、有 Cm），B₂ 管整層側移（側移 K、Σ 含靠桿）。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012387"/>
            <a:ext cx="10881360" cy="662026"/>
          </a:xfrm>
          <a:prstGeom prst="roundRect">
            <a:avLst>
              <a:gd name="adj" fmla="val 8287"/>
            </a:avLst>
          </a:prstGeom>
          <a:solidFill>
            <a:srgbClr val="24384F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4206240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206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4012387"/>
            <a:ext cx="100584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右腿強度側完全複用壓桿（φcPn）與梁桿（φbMnx、φbMny）單元，沒有新觀念，只求快而穩。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4875581"/>
            <a:ext cx="10881360" cy="662026"/>
          </a:xfrm>
          <a:prstGeom prst="roundRect">
            <a:avLst>
              <a:gd name="adj" fmla="val 8287"/>
            </a:avLst>
          </a:prstGeom>
          <a:solidFill>
            <a:srgbClr val="24384F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5069434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06943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0160" y="4875581"/>
            <a:ext cx="100584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兩腿只在 P-M 互制式會合：先判 Pu/φcPn 是否 ≥ 0.2，再選 H1-1a 或 H1-1b。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080" y="5738774"/>
            <a:ext cx="10881360" cy="662026"/>
          </a:xfrm>
          <a:prstGeom prst="roundRect">
            <a:avLst>
              <a:gd name="adj" fmla="val 8287"/>
            </a:avLst>
          </a:prstGeom>
          <a:solidFill>
            <a:srgbClr val="24384F"/>
          </a:solidFill>
          <a:ln/>
        </p:spPr>
      </p:sp>
      <p:sp>
        <p:nvSpPr>
          <p:cNvPr id="22" name="Shape 20"/>
          <p:cNvSpPr/>
          <p:nvPr/>
        </p:nvSpPr>
        <p:spPr>
          <a:xfrm>
            <a:off x="868680" y="5932627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93262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80160" y="5738774"/>
            <a:ext cx="100584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ASD 骨架相同，但穩定式（中段）與強度式（端部）兩條都要驗，缺一不可。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考前總複習</dc:creator>
  <cp:lastModifiedBy>考前總複習</cp:lastModifiedBy>
  <cp:revision>1</cp:revision>
  <dcterms:created xsi:type="dcterms:W3CDTF">2026-09-14T13:39:31Z</dcterms:created>
  <dcterms:modified xsi:type="dcterms:W3CDTF">2026-09-14T13:39:31Z</dcterms:modified>
</cp:coreProperties>
</file>