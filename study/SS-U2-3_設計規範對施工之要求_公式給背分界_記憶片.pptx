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單元的答案很極端。我把二十四份鋼結構設計考卷全部翻過一遍，統計這個單元的三十八條規定裡，考卷曾經印給你幾條。答案是零條。這不是誇飾，是逐年逐頁比對出來的結果。所以這支影片沒有「哪些可以不背」這件事，只有「怎麼把它們背得又快又準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先講規則。紅色三十四條是必背，這是你真正要花時間的地方。橘色只有四條，而且它們是碰巧印在別題旁邊，本單元自己用不到，所以實際上也要背。綠色那一格是零 —— 全科六個子項裡唯一的零。整支影片的玩法是：看到深色卡片就按暫停，先自己寫，再看答案。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如果這支影片你只記得一句話，就是這句：這個單元沒有給不給的問題，只有背不背的問題。但反過來看它是好消息 —— 因為十三題全是說明題，沒有一題要花十五分鐘手算，答對跟答錯的差別純粹在於那個數字寫不寫得出來。十五個數字加三個答題骨架，不到半頁，就覆蓋了絕大部分配分。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三十八條規定可以歸成五個家族：螺栓施工九條、銲接施工九條、非破壞檢測三條、防蝕塗裝五條、耐震細部十二條。耐震細部條數最多，但出現頻率最高的其實是非破壞檢測 —— 三條規定考了三次，而三次全部零支援。接下來我們先建立答題骨架，再一張一張回想卡過。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個骨架，也是最萬用的一個：三道防線。事前是材料與細節，事中是施工管制，事後是檢驗與修補。一百一十一年跟一百一十三年那兩題二十五分的大題，都可以直接套這個架構。更關鍵的是右邊那句：每一段都要寫成機制、數字、為什麼訂這個數字、沒做到會怎樣，四段。只寫要注意品質，一分都拿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三道防線攤在施工時間軸上。左邊事前這一格，答的是選材與畫圖；中間事中，答的是當場要管的參數；右邊事後，答的是你怎麼證明自己做對了。注意每一格底下我都放了具體數字，而不是形容詞。同一題其實三段都可以寫，閱卷看到你有分層，結構分就先拿到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三個骨架記下來，這個單元的申論題幾乎都有地方可以掛。骨架 A 是三道防線，骨架 B 是非破壞檢測的五選一，骨架 C 是不予塗裝的五個部位。右下角那張最重要：每一段都寫成四步 —— 機制、數字、為什麼訂這個數字、沒做到會怎樣。這四步就是把死背變成可推導的關鍵。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高強度螺栓鎖緊後的最小預拉力，是幾倍的哪一個強度？另外，施工上有哪四種達成鎖緊力的方法？提示是：這個係數很常被寫成另一個很像的數字，而那個數字是銲道用的，跟夾持力毫無關係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答案：T zero 等於零點七零倍 F u 乘 A b。記法是：零點七零是把兩塊板夾住的力，零點六零是銲填金屬的剪力強度折減，一個是夾持機制、一個是材料折減，意義完全無關。四種達成方法要一起背：扭力法、旋轉角度法、D T I 直接張力指示器、還有 T C 斷尾螺栓。九十八年那題字面就在問這個倍數，而那年整張考卷零公式。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。高強度螺栓為什麼不可以重複使用？還有，板面有間隙、孔位有偏差的時候，各有幾個門檻數字？提示：兩組門檻都是三段式，一組的分界是二跟六，另一組是二跟五，單位都是毫米。這一題九十三年考過整整二十五分，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答案：扭力法的關係是 T 等於 K 乘 d 乘 F i。初次鎖緊讓螺紋塑性硬化，原廠標定的 K 就失效了，同樣的扭矩再也建立不出正確的夾緊力，所以 A four ninety 絕對禁止重複使用。門檻方面，間隙小於等於二毫米直接鎖緊、二到六毫米加填塞板、超過六毫米修整重製；孔位偏差小於等於二毫米用撬棒、二到五毫米鉸孔、超過五毫米回廠重製。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，這是全片唯一一張橘色的。二十四年裡，這個單元三十八條規定只有四條曾經被印在考卷上。是哪四條？而且更重要的問題是：既然印過了，為什麼它們仍然要背？提示：三條跟螺栓的幾何有關，一條是一張表格。暫停，想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答案：螺栓最小中心距三倍直徑、最小邊距一點五倍直徑、標準孔孔徑等於螺栓直徑加三毫米、以及最小銲腳尺寸表。四條全是別題順帶印的。而且不能賭 —— 九十四年給的孔徑是加一點五毫米，跟九十二年的加三毫米不一致，靠考卷推會推錯。最後一列才是重點：這十三題，考卷從來沒有為它們印過任何一條規定。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回想卡。填角銲有四個尺寸規定，分別是有效銲喉、回銲長度、有效長度、還有最大銲腳，各是什麼？提示：有效銲喉那個係數是某個角度的餘弦值；另外最小銲腳由厚板決定、最大銲腳由薄板決定，這組對稱關係也要能講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答案：有效銲喉 t e 等於零點七零七 w，也就是 w 除以根號二；回銲長度至少二倍 w；填角銲有效長度至少四倍 w 而且至少四十毫米；最大銲腳在板厚六毫米以上時是板厚減二毫米。零點七零七就是 cos 四十五度，因為等腳填角銲的最小斷面在四十五度對角線上。回銲要二倍 w，是為了把起弧收弧的缺陷推離受力斷面。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第五張回想卡，一次問三件事。低氫銲條的烘烤溫度、時間、與取出後的使用時限各是多少？相對溼度多高、風速多大不得現場施銲？還有碳當量公式怎麼寫？提示：這三件事共用同一條機制鏈 —— 水氣、電弧、氫，然後在冷卻之後才裂開。暫停。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低氫系銲條在三百到四百度烘烤、保溫一到兩小時，取出後四小時內用畢。相對溼度超過九成、或風速超過每秒五公尺就不得現場施銲，氣體遮護銲更嚴、只有每秒二公尺。碳當量等於碳加錳除以六，加鉻鉬釩除以五，加鎳銅除以十五，超過零點四四趴銲接性明顯下降。這四條全部串在同一條氫的主線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第六張回想卡，這是本單元出現頻率最高的知識點，三次考、三次零支援。五種非破壞檢測各抓哪一類瑕疵？還有，M T 為什麼只能用在磁性材料，而且有效深度只有大約三毫米？提示：分類的鑰匙是體積型跟面積型，想一下 X 光穿過一條幾乎沒有厚度的裂縫會怎樣。暫停。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答案：表面用 V T 目視；表面開口的裂縫，磁性材料用 M T、非磁性用 P T；內部體積型的氣孔跟夾渣用 R T；內部面積型的裂縫跟未熔合用 U T。M T 靠磁力線洩漏成像，所以只能用在碳鋼、低合金鋼這類磁性材料，而磁力線只在表面附近繞出來，有效深度大約三毫米，檢完還要消磁，不然殘磁會干擾後續銲接的電弧。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這張圖回答一個很常被問的問題：為什麼耐震規範指定超音波而不是射線？因為氣孔、夾渣是有體積的空腔，X 光穿過去衰減差異明顯，看得很清楚。但裂縫跟未熔合幾乎沒有厚度，X 光可能整片穿過去什麼都看不到；反過來超音波垂直打到一個平面缺陷會強烈反射。梁柱全滲透銲道最怕的正是未熔合跟裂縫，所以規範指定超音波百分之百。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第七張回想卡。S I S 銹蝕四等級 A、B、C、D，哪一個最嚴重、哪一個最輕？還有，熱浸鍍鋅的三個數字跟兩種保護機制各是什麼？提示：等級的方向很多人記反。鍍鋅那三個數字，一個是溫度、一個是厚度，加上一個時間或年限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答案：A 級最輕、氧化皮還完整覆蓋，D 級最重、已經全面坑蝕，很多人直覺以為 A 最嚴重。熱浸鍍鋅三個數字：槽溫約四百五十度、鍍層厚度大於等於八十五微米、耐久二十到五十年。鋅的熔點是四百二十度，槽溫要稍高才流得動，答兩百度或六百度都是常見失分。九十九年跟一百零八年連兩題考鍍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這張圖是防蝕題的核心。左邊阻隔層，油漆也做得到；右邊犧牲陽極，油漆完全做不到。鍍層被刮傷之後，鋅會優先腐蝕，Zn 變成 Zn 二價離子加兩個電子，電子供給裸露的鋼，因為鋅的電位負零點七六伏比鐵的負零點四四伏活性大。保護半徑大約五毫米。只答物理屏蔽，這題會失一半分。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回想卡。除施工程序書另有規定，建築鋼結構有哪五類部位不予塗裝？而且每一類塗了會壞什麼事？一百零七年整題二十分就是這五條，名稱跟理由通常各佔一半分。判準只有一句話：塗了會壞事的地方就不塗。暫停，五個部位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五個：摩阻型螺栓接觸面、現場銲接兩側各五十毫米、埋入混凝土面、柱腳底板底面、密閉箱型斷面內部。特別注意兩件事：第一，只有摩阻型不塗，承壓型是可以塗的，這是常見陷阱；第二，現場銲接是兩側各五十毫米，不是只有銲縫那條線。每一條都要附理由，名稱兩分、理由兩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九張回想卡。節點域腹板的最小厚度那條規定怎麼寫？分子分母各是什麼？另外，箱型柱鋼板厚度達到多少毫米以上，必須改用哪一個等級的鋼材，為什麼？提示：分母是一個兩位數整數；厚板那一題的關鍵詞是層狀撕裂。這兩題九十八年一起考過，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答案：t z 大於等於 d z 加 w z 除以九十。分母是九十，不是七十也不是一百；分子是梁深方向高度加柱深方向寬度。它的本質是寬厚比限制，要確保節點域先剪力降伏消能，而不是剪力挫屈，厚度不足就加設加勁板。板厚四十毫米以上必須用 S N 四百 C 或 S N 四九零 C，因為 C 級規定 Z 向斷面收縮率大於等於百分之二十五。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左半邊先看清楚 d z 跟 w z 量在哪裡。d z 是梁深方向的節點域高度，w z 是柱深方向的寬度，顛倒了整條式子就沒意義。厚度規定保證它不挫屈，強度公式決定它何時降伏，這兩條要配對理解。右半邊是填角銲的兩種破壞位置：根部沿四十五度有效銲喉剪切、趾部沿母材熔合線或熱影響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解釋層狀撕裂為什麼會發生。軋延過程把夾雜物壓成層狀、平行板面，所以板厚方向的延性最差；而厚板銲接接頭冷卻收縮時，在板厚方向產生巨大的拘束拉應力，正好把最弱的那個方向拉開。防治手段材料端跟施工端各要給一招：材料端是 Z 向鋼材，施工端是漸進式銲接順序，另外還有奶油塗層跟改變接頭細節。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最後一張回想卡。降伏比 Y R 的上限是多少？為什麼規範要限制它？另外，Charpy 衝擊值的兩個規定溫度各是多少？韌性抗彎構架接頭的塑性轉角需求又是多少？提示：降伏比限制的其實是材料不能太強；Charpy 有兩個溫度，母材一個、耐震銲材一個。暫停，寫下來。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答案：降伏比等於 F y 除以 F u，上限零點八零。Charpy 兩個溫度是母材規定在零度、耐震梁柱接頭的銲材規定在負二十九度，兩個都要大於等於二十七焦耳。塑性轉角 S M R F 要零點零三弧度，而且在那個轉角時彎矩還要維持在零點八倍 M p 以上，只答一個數字通常只拿一半分。接頭設計力則要用一點一倍 R y M 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最後複習六個真的會讓你掉分的地方。T zero 寫成零點六零、螺栓跟銲接的載重相加、S I S 等級方向記反、二倍 w 跟四倍 w 混用、鍍鋅溫度答成兩百度或六百度、還有只寫形容詞不寫數字。最後這一個是本單元最致命的，因為十三題全是說明題，寫不出數字就只能寫一堆形容詞。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這一頁把四組最容易記反的數字並排放。第一組零點七零對零點六零，第二組是 S I S 等級的方向、沒有公式所以放在註解裡，第三組二倍 w 對四倍 w，第四組四百五十度對四百二十度。並排背比各背一次有效得多，因為錯誤都發生在「兩個數字很像但意義完全不同」的時候。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整支影片的價值所在：十五個寫出來就有分的數字。建議直接截圖存進手機，考前十分鐘只看這一頁。特別提醒第二列跟第四列，這兩組三段式門檻很少人背，但九十三年整題二十五分就是在問它們。九十八年那一年更誇張，一題就直接點名了其中五個數字，而那年整張考卷零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速查表第一頁放的是短式子，也就是最容易在考場上寫錯一個數字就整段沒分的那些。這一頁每一條都是紅色或橘色等級，考卷不會給你。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速查表第二頁放的是比較長的門檻數字組跟材料要求。這一頁的每一條都是三段式或多個數字並列，抄的時候最容易漏掉其中一段，建議整組一起默寫、一起檢查。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這個單元沒有給不給的問題，三十八條裡三十四條二十四年零次印出。第二，但它是六個子項裡投報率最高的，十三題全是說明題。第三，說明題一律寫成四段：機制、數字、為什麼、後果。第四，二十四年出現十三次，如果考前只剩一個晚上，這一單元是你該先看的那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SS-U2-3　鋼結構設計｜規定記憶片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設計規範對施工之要求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38 條規定，考卷會給你幾條？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份考卷逐份比對（含影像頁目視判讀）為證據。答案是：0 條。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10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結構技師｜鋼結構設計 SS-U2-3 設計規範對施工之要求｜規定「給／背」分界記憶片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三種顏色，這次只剩兩種顏色有東西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判定標準採保守制：只要歷年出現過「該考點被考、但規定沒給」，一律列為必背。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34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曾經被考、當年考卷完全沒給；或 24 年一次都沒印出來過。三十八條裡三十四條落在這一格。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唯一四條曾被印出過，但全是別題順帶印的，本單元自己用不到 —— 等於也要背。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 SS 六個子項裡唯一的零。24 年考卷從來沒有為這 13 題印過任何一條規定。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每張深色卡片是一個問題：先按暫停，把數字與分類寫在紙上，再放下一頁對答案。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 13 題全是說明題，答案不是算式而是「數字 + 判定規則 + 答題骨架」，寫得出來就有分。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最後三頁是十五個關鍵數字與兩頁速查表 —— 考前十分鐘只看那三頁就好。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這個單元沒有「給不給」的問題，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只有「背不背」的問題。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38 條裡 34 條 24 年零次印出；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剩下 4 條全是別題順帶印的。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但這件事有它好的一面：13 題全為說明題，沒有一題需要 15 分鐘手算。15 個數字加 3 個答題骨架，寫下來不到半頁，卻覆蓋這 13 題的絕大部分配分 —— 這是六個子項裡投資報酬率最高的一頁。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SS-U2-3 的五個規定家族（共 38 條）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螺栓施工（9 條）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T0 = 0.70FuAb、不可重複使用、板面間隙與孔位偏差門檻、摩阻型不得與銲接共同分擔。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銲接施工（9 條）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有效銲喉 0.707w、回銲 2w、有效長度 4w、最小與最大銲腳、銲條烘烤、預熱、碳當量。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非破壞檢測（3 條）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五法對應體積型與面積型瑕疵、MT 只能用磁性材料且深約 3 mm、梁翼 CJP 要 UT 100%。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防蝕塗裝（5 條）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SIS 銹蝕四等級、熱浸鍍鋅 450°C 與 85 μm 雙重保護、金屬噴塗、五類不予塗裝部位。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耐震細部（12 條）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節點域 tz、板厚 40 mm 用 SN-C、降伏比 0.80、Charpy 27 J、塑性轉角 0.03 rad、層狀撕裂。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1 · 說明題的萬用骨架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三道防線：事前 → 事中 → 事後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 題全是說明題，「怎麼分類」本身就是配分點 —— 考卷從不給骨架，而閱卷給分在骨架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SS-U2-3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說明題到手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事前 ①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材料等級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SN-B／SN-C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事前 ②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接頭細節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開槽・去背銲條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事中 ①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預熱・層間溫度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銲條烘烤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事中 ②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環境管制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溼度・風速門檻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事中 ③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螺栓鎖緊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不可重複使用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事後 ①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NDT 檢驗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UT 100%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事後 ②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塗裝查驗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膜厚 DFT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事後 ③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瑕疵修補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修磨・補銲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6" name="Text 34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三道防線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缺一段就少一段分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答題四段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→ 規定的數字 → 為什麼訂這個數字 → 沒做到會怎樣。只寫「要注意銲接品質」這種形容詞，一分都拿不到。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三道防線各要給兩三條具體規定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2" name="Text 40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材料等級與接頭細節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4" name="Text 42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事中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預熱、環境、鎖緊管制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6" name="Text 44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事後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NDT、膜厚、修補重製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三道防線的時間軸：每一格都是一個可以寫的數字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three_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50686"/>
            <a:ext cx="6501384" cy="29282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事前是「選材與畫圖」：SN 鋼材等級、厚板 40 mm 門檻、開槽型式、去背銲條。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事中是「當場管什麼」：預熱與層間溫度、銲條烘烤、溼度風速、螺栓鎖緊。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事後是「怎麼證明做對了」：UT 比例、MT 抽驗、塗裝膜厚、瑕疵修補。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同一題可以三段都寫；閱卷看到你有分層，就已經拿到結構分。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2 · 三個骨架 + 一種寫法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說明題的三個泛用骨架，與每一段的四步寫法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骨架 A｜三道防線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事前：材料選用與設計細節（SN 鋼材、Z 向鋼、開槽型式）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事中：施工管制（預熱、層間溫度、銲接順序、環境限制）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事後：檢驗與修補（NDT、修磨、補銲、必要時重製）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111 年、113 年兩題 25 分大題都可以直接套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32804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骨架 B｜NDT 五選一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32804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先問瑕疵在哪一帶，再問它是什麼形狀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表面可見 → VT；表面開口：磁性用 MT、非磁性用 PT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內部體積型（氣孔、夾渣）→ RT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內部面積型（裂縫、未熔合）→ 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骨架 C｜不予塗裝五部位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判準只有一句：塗了會壞事的地方就不塗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五個部位各配一個「壞什麼事」的理由，名稱與理由各佔分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107 年整題 20 分就是這五條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2804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每一段都寫成四步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機制：物理上發生了什麼（氫、殘留應力、電化學）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規定的數字：85 μm、450°C、0.03 rad……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為什麼訂這個數字：跟機制對得上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沒做到會怎樣：裂縫、脆斷、塗裝失效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螺栓施工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高強度螺栓的最小預拉力是幾倍的哪一個強度？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施工上有哪四種達成鎖緊力的方法？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提示：這個係數常被寫成另一個很像的數字，而那個數字是「銲道」用的，跟夾持力毫無關係。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T0 = 0.70 Fu Ab —— 0.70 是夾持力，0.60 是銲道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最小預拉力</a:t>
            </a:r>
            <a:endParaRPr lang="en-US" sz="1300" dirty="0"/>
          </a:p>
        </p:txBody>
      </p:sp>
      <p:pic>
        <p:nvPicPr>
          <p:cNvPr id="7" name="Image 0" descr="formula_imgs/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93647"/>
            <a:ext cx="7772400" cy="15710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很像但無關</a:t>
            </a:r>
            <a:endParaRPr lang="en-US" sz="1300" dirty="0"/>
          </a:p>
        </p:txBody>
      </p:sp>
      <p:pic>
        <p:nvPicPr>
          <p:cNvPr id="11" name="Image 1" descr="formula_imgs/fnw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96022"/>
            <a:ext cx="7772400" cy="14286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怎麼記：0.70 是「把兩塊板夾住」的力（Fu 乘螺栓有效斷面積），0.60 是「銲填金屬剪力強度折減」，一個是夾持機制、一個是材料強度折減，意義完全無關。四種達成方法：扭力法、旋轉角度法、DTI 直接張力指示器、TC 斷尾螺栓。98 年 SS-2009-4⑤ 字面就在問這個倍數，而那年整張考卷零公式。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螺栓施工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高強度螺栓為什麼不可以重複使用？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板面有間隙、孔位有偏差時，各有幾個門檻數字？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提示：兩組門檻都是三段式，一組的分界是 2 與 6，另一組是 2 與 5。單位都是毫米。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扭力係數失控，加上兩組三段門檻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扭力法</a:t>
            </a:r>
            <a:endParaRPr lang="en-US" sz="1300" dirty="0"/>
          </a:p>
        </p:txBody>
      </p:sp>
      <p:pic>
        <p:nvPicPr>
          <p:cNvPr id="7" name="Image 0" descr="formula_imgs/tor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3056" y="1847088"/>
            <a:ext cx="1858609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板面間隙</a:t>
            </a:r>
            <a:endParaRPr lang="en-US" sz="1300" dirty="0"/>
          </a:p>
        </p:txBody>
      </p:sp>
      <p:pic>
        <p:nvPicPr>
          <p:cNvPr id="11" name="Image 1" descr="formula_imgs/gap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05140"/>
            <a:ext cx="7772400" cy="4636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孔位偏差</a:t>
            </a:r>
            <a:endParaRPr lang="en-US" sz="1300" dirty="0"/>
          </a:p>
        </p:txBody>
      </p:sp>
      <p:pic>
        <p:nvPicPr>
          <p:cNvPr id="15" name="Image 2" descr="formula_imgs/off2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126201"/>
            <a:ext cx="7772400" cy="45268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摩阻型強度</a:t>
            </a:r>
            <a:endParaRPr lang="en-US" sz="1300" dirty="0"/>
          </a:p>
        </p:txBody>
      </p:sp>
      <p:pic>
        <p:nvPicPr>
          <p:cNvPr id="19" name="Image 3" descr="formula_imgs/sl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550" y="5193792"/>
            <a:ext cx="749362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為什麼不能重複用：初次鎖緊使螺紋塑性硬化、原廠標定的扭力係數 K 失效，同樣扭矩無法建立正確夾緊力；A490 絕對禁止，A325 台灣規範亦不允許。三個絕對禁止：禁氣割擴孔、禁拿螺栓當撬棒、禁強行敲入。摩阻型的三個變數剛好對上三種施工缺陷 —— 接觸面塗裝壞 μ、重複使用壞 Tb、板面不密接讓 Tb 沒作用在接觸面上。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唯一的例外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24 年裡，只有 4 條規定曾經被印在考卷上。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是哪四條？為什麼它們仍然要背？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提示：三條跟螺栓的幾何有關，一條是一張表格。它們有一個共同點 —— 都不是為本單元印的。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🟠 會給但別賭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四條例外全是「別題順帶印的」，本單元一次也沒享受到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5029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規定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數值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印在哪一年、為什麼仍要背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螺栓最小中心距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 ≥ 3db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91・92・93 年，印在 U1-4 承壓強度的適用條件裡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最小邊距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Le ≥ 1.5d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同三年成對出現；不足時承壓改用 Rn = Le·t·Fu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標準孔孔徑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db + 3 mm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92 年題內給「19 mm 螺栓、孔 22 mm」，94 年卻給 +1.5 mm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最小銲腳尺寸表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t≤6→3／6&lt;t≤12→5／12&lt;t≤19→6／19&lt;t≤38→8 mm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113 年以圖片嵌入，但那年問的是梁柱接頭破壞模式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（對照）本單元自己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 條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13 題從來沒有一年為它們印過任何一條規定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銲接施工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填角銲的四個尺寸規定各是什麼？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有效銲喉、回銲、有效長度、最大銲腳。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提示：有效銲喉那個係數是某個角度的餘弦值；最小銲腳由厚板決定，最大銲腳由薄板決定。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0.707、2w、4w、t−2：四個數字撐起整個填角銲題型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有效銲喉</a:t>
            </a:r>
            <a:endParaRPr lang="en-US" sz="1300" dirty="0"/>
          </a:p>
        </p:txBody>
      </p:sp>
      <p:pic>
        <p:nvPicPr>
          <p:cNvPr id="7" name="Image 0" descr="formula_imgs/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495" y="1847088"/>
            <a:ext cx="2349731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回銲長度</a:t>
            </a:r>
            <a:endParaRPr lang="en-US" sz="1300" dirty="0"/>
          </a:p>
        </p:txBody>
      </p:sp>
      <p:pic>
        <p:nvPicPr>
          <p:cNvPr id="11" name="Image 1" descr="formula_imgs/endr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155" y="2962656"/>
            <a:ext cx="154441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有效長度</a:t>
            </a:r>
            <a:endParaRPr lang="en-US" sz="1300" dirty="0"/>
          </a:p>
        </p:txBody>
      </p:sp>
      <p:pic>
        <p:nvPicPr>
          <p:cNvPr id="15" name="Image 2" descr="formula_imgs/le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214" y="4078224"/>
            <a:ext cx="724829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最大銲腳</a:t>
            </a:r>
            <a:endParaRPr lang="en-US" sz="1300" dirty="0"/>
          </a:p>
        </p:txBody>
      </p:sp>
      <p:pic>
        <p:nvPicPr>
          <p:cNvPr id="19" name="Image 3" descr="formula_imgs/wma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429" y="5193792"/>
            <a:ext cx="6723861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來由：0.707 就是 cos 45°，等腳填角銲的最小斷面在 45° 對角線上，所以不論力向平行或垂直銲道都用它算。回銲 2w 是把起弧收弧的缺陷推離受力斷面，同時消除銲道端點的應力集中並提供抗剝離力。最小銲腳由「較厚」那片板決定（厚板散熱快 → 急冷硬脆 + 氫致裂縫），最大銲腳由「較薄」那片決定（保留可辨識板緣、避免熔穿）。104 年與 108 年都印了 0.6FEXX，卻兩次都不給 t = 0.707w，而題目要算的正是銲腳。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銲接施工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低氫銲條的烘烤條件是什麼？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溼度、風速多大不得現場施銲？碳當量公式怎麼寫？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提示：這三件事共用同一條機制鏈 —— 水氣、電弧、氫、然後在冷卻後才裂開。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一條氫的主線，串起烘烤、環境、碳當量、預熱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銲條烘烤</a:t>
            </a:r>
            <a:endParaRPr lang="en-US" sz="1300" dirty="0"/>
          </a:p>
        </p:txBody>
      </p:sp>
      <p:pic>
        <p:nvPicPr>
          <p:cNvPr id="7" name="Image 0" descr="formula_imgs/b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535" y="1847088"/>
            <a:ext cx="5493651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環境限制</a:t>
            </a:r>
            <a:endParaRPr lang="en-US" sz="1300" dirty="0"/>
          </a:p>
        </p:txBody>
      </p:sp>
      <p:pic>
        <p:nvPicPr>
          <p:cNvPr id="11" name="Image 1" descr="formula_imgs/en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71599"/>
            <a:ext cx="7772400" cy="53075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碳當量</a:t>
            </a:r>
            <a:endParaRPr lang="en-US" sz="1300" dirty="0"/>
          </a:p>
        </p:txBody>
      </p:sp>
      <p:pic>
        <p:nvPicPr>
          <p:cNvPr id="15" name="Image 2" descr="formula_imgs/c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292" y="4078224"/>
            <a:ext cx="5936136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預熱與層間</a:t>
            </a:r>
            <a:endParaRPr lang="en-US" sz="1300" dirty="0"/>
          </a:p>
        </p:txBody>
      </p:sp>
      <p:pic>
        <p:nvPicPr>
          <p:cNvPr id="19" name="Image 3" descr="formula_imgs/preh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146" y="5193792"/>
            <a:ext cx="672842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機制鏈要寫完整才有分：水氣經電弧高溫分解 → 氫溶入熔池 → 冷卻到 200°C 以下時在 HAZ 應力集中處析出 → 氫致冷裂縫。它的特徵是「延遲」，銲後數小時甚至數天才出現，這個關鍵詞是 91 年那題的得分點。碳當量高 → 淬硬性高 → HAZ 易生麻田散鐵 → 硬脆且對氫敏感 → 需要更高的預熱溫度。預熱與層間溫度要講兩個方向：下限防氫裂與層狀撕裂，上限防 HAZ 晶粒粗化。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非破壞檢測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五種 NDT 各抓哪一類瑕疵？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MT 為什麼只限磁性材料、深度只有 3 mm？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提示：分類的鑰匙是「體積型」與「面積型」—— 想一下 X 光穿過一條沒有厚度的裂縫會怎樣。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先問瑕疵在哪一帶，再問它是體積型還是面積型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338328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方法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深度帶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抓什麼瑕疵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限制與比例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VT 目視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表面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咬邊、溢流、外觀不整、尺寸不足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最便宜，抽驗基本盤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MT 磁粉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表面與近表面（約 3 mm）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表面開口裂縫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僅磁性材料，檢後須消磁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PT 液滲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表面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表面開口瑕疵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材質不限，內部完全測不到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RT 射線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內部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體積型：氣孔、夾渣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有輻射管制，成本高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UT 超音波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內部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面積型：裂縫、未熔合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梁翼板與柱續接 CJP：UT 100%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銲材韌性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配套要求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Cv ≥ 27 J @ −29°C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為什麼耐震規範指定 UT 而不是 RT？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ndt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16774"/>
            <a:ext cx="6501384" cy="29388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氣孔、夾渣是有體積的空腔 → X 光衰減差異明顯 → RT 看得見。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裂縫、未熔合幾乎沒有厚度 → X 光可能整片穿過去 → RT 看不見。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超音波垂直入射到平面缺陷會強烈反射 → UT 對面積型最靈敏。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梁柱 CJP 銲道最怕的正是未熔合與裂縫，所以規範指定 UT 100%。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答題要「部位 + 方法 + 比例」三件成套：梁翼板 CJP → UT 100%；腹板剪力板 → MT 或 VT 抽驗；柱續接處 CJP → UT 100%；連續板與加勁板 → VT 加抽驗 MT。只答「用 UT」不指出部位與比例，會被視為答不完整。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防蝕塗裝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SIS 銹蝕四等級 A、B、C、D 哪一個最嚴重？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熱浸鍍鋅的三個數字與兩種保護機制各是什麼？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提示：等級的方向很多人記反。鍍鋅那三個數字是一個溫度、一個厚度，加上一個時間或年限。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 是最輕不是最重；鍍鋅的價值在第二種機制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項目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內容（寫出來就有分）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SIS 銹蝕四等級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 氧化皮完整（最輕）→ B 開始剝落 → C 大量剝落＋麻點 → D 全面坑蝕（最重）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表面準備等級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Sa 1 輕度／Sa 2 徹底／Sa 2.5 近白金屬（一般塗裝）／Sa 3 白金屬（金屬噴塗）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熱浸鍍鋅三數字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槽溫約 450°C（鋅熔點 420°C）・鍍層 ≥ 85 μm・耐久 20–50 年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雙重保護機制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阻隔層　② 犧牲陽極：Zn −0.76 V 比 Fe −0.44 V 活性大，保護半徑約 5 mm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鍍鋅流程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脫脂 → 酸洗 → 清洗 → 助熔劑 → 乾燥預熱 → 熱浸 → 冷卻（漏助熔劑是常見缺漏）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金屬噴塗三數字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Sa 3・粗糙度 Rz ≥ 60 μm・表面處理後 4 h 內噴塗，十字交叉噴法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塗裝環境三數字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RH ≤ 85%・鋼面溫度 ≥ 露點 + 3°C・底漆乾膜 DFT ≥ 50 μm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鍍鋅贏在哪裡？油漆只有第一種機制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gal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96714"/>
            <a:ext cx="6501384" cy="297897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左邊是阻隔層：≥ 85 μm 的鋅層把水與氧擋在外面，這一點油漆也做得到。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右邊是犧牲陽極：鍍層刮傷後鋅優先腐蝕（Zn → Zn²⁺ + 2e⁻），電子供給裸鋼。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鋅電位 −0.76 V 比鐵 −0.44 V 活性大，所以鋅願意先犧牲，保護半徑約 5 mm。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油漆破損處立刻生鏽並向膜下擴散；鍍鋅破損處仍受保護 —— 只答「物理屏蔽」會失一半分。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限制也要記：環境 pH &gt; 12.5 或溫度 &gt; 200°C 時鍍層劣化失效；450°C 熱浸會有熱翹曲問題，且受鋅槽尺寸限制 —— 這正是金屬噴塗（可現場施作、不受尺寸限制）存在的理由。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防蝕塗裝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建築鋼結構有哪五類部位不予塗裝？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每一類「塗了會壞什麼事」？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提示：107 年整題 20 分就是這五條，名稱與理由通常各佔一半分。判準只有一句：塗了會壞事。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五類不予塗裝部位：名稱 2 分 + 理由 2 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摩阻型螺栓接觸面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塗裝使 μ 從 0.35 掉到 0.15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陷阱：只有摩阻型不塗，承壓型可以塗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現場銲接兩側各 50 mm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油漆高溫分解 → 氣孔、擾亂電弧、有害氣體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是「兩側各 50 mm」不是只有銲縫線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埋入混凝土面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混凝土鹼性環境本身即保護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塗裝反而降低握裹力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2910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436626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柱腳底板底面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9808" y="479602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影響底板與無收縮砂漿的剪力傳遞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灌漿後本身即被包覆，不需塗裝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7304" y="422910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38472" y="436626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⑤ 密閉箱型斷面內部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38472" y="479602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無氧環境腐蝕極慢，塗了沒意義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密閉空間揮發物危害作業安全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耐震細部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節點域腹板最小厚度那條規定怎麼寫？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板厚達多少 mm 以上必須改用哪個等級的鋼材？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提示：分母是一個兩位數整數，分子是「梁深方向」加「柱深方向」兩個幾何量。厚板那題的關鍵詞是層狀撕裂。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分母是 90；40 mm 以上一定要 C 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節點域厚度</a:t>
            </a:r>
            <a:endParaRPr lang="en-US" sz="1300" dirty="0"/>
          </a:p>
        </p:txBody>
      </p:sp>
      <p:pic>
        <p:nvPicPr>
          <p:cNvPr id="7" name="Image 0" descr="formula_imgs/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663" y="1847088"/>
            <a:ext cx="152139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節點域剪力強度</a:t>
            </a:r>
            <a:endParaRPr lang="en-US" sz="1300" dirty="0"/>
          </a:p>
        </p:txBody>
      </p:sp>
      <p:pic>
        <p:nvPicPr>
          <p:cNvPr id="11" name="Image 1" descr="formula_imgs/panel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021" y="2962656"/>
            <a:ext cx="3236678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厚板鋼材</a:t>
            </a:r>
            <a:endParaRPr lang="en-US" sz="1300" dirty="0"/>
          </a:p>
        </p:txBody>
      </p:sp>
      <p:pic>
        <p:nvPicPr>
          <p:cNvPr id="15" name="Image 2" descr="formula_imgs/t4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162" y="4078224"/>
            <a:ext cx="5758395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向延性</a:t>
            </a:r>
            <a:endParaRPr lang="en-US" sz="1300" dirty="0"/>
          </a:p>
        </p:txBody>
      </p:sp>
      <p:pic>
        <p:nvPicPr>
          <p:cNvPr id="19" name="Image 3" descr="formula_imgs/z2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599" y="5193792"/>
            <a:ext cx="4821523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分母是 90，不是 70 也不是 100；分子是梁深方向高度 dz 加柱深方向寬度 wz。本質是寬厚比限制的變形：確保節點域先「剪力降伏消能」而不是「剪力挫屈」，不足時加設加勁板 doubler plate。40 mm 以上要用 C 級的理由是層狀撕裂：厚板軋延的夾雜物呈層狀平行板面，Z 向延性最差，而 SN-C 的 Z 向斷面收縮率 ≥ 25% 是唯一有效的防治。SN 三等級：A 無特殊要求／B 加 CVN 與降伏比上限／C = B 再加 Z 向延性。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dz 與 wz 量在哪裡？填角銲又會從哪兩個位置壞掉？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anel_w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92163"/>
            <a:ext cx="6501384" cy="29880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dz 量的是「梁深方向」的節點域高度，wz 量的是「柱深方向」的寬度 —— 顛倒了式子就沒意義。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厚度規定 tz 保證它不挫屈，強度公式 φvRn 決定它何時降伏，兩條要配對理解。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φvRn 括號裡那一項是柱翼板的框架作用，只有允許節點域進入非彈性時才計入。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填角銲兩種破壞位置：根部沿 45° 有效銲喉剪切、趾部沿母材熔合線或 HAZ。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112 年 SS-2023-4 整題 25 分問「銲接接合的破壞形式」，答題要覆蓋五種才完整：有效銲喉剪切、母材熔合面破壞、HAZ 脆性破壞、塊狀剪力、根部未熔合的缺口效應。加分觀察：垂直（橫向）填角銲的強度約為平行填角銲的 1.5 倍，因為受力狀態是複合應力而非純剪。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層狀撕裂：夾雜物層被沿著板面拉開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lame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55611"/>
            <a:ext cx="6501384" cy="32611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軋延過程把夾雜物壓成層狀、平行板面，所以板厚（Z）方向的延性最差。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厚板銲接接頭在板厚方向承受巨大拘束應力，正好把最弱的方向拉開。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材料端一招：Z 向鋼材 Z25／Z35（斷面收縮率 ≥ 25% 或 35%）。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施工端一招：漸進式銲接順序降低殘留拉應力；再加奶油塗層與改變接頭細節。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「箱型柱 ≥ 40 mm 用 SN-C」與「層狀撕裂怎麼防」是同一條規定的兩種問法 —— 98 年 SS-2009-2② 與 113 年 SS-2024-4 分別問了兩次，兩次都零支援。答題最好把四項防治手段全部寫出來，材料端與施工端各至少一招。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10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耐震細部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降伏比的上限是多少？為什麼要限制它？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Charpy 兩個溫度、塑性轉角需求各多少？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提示：降伏比限制的是「材料不能太強」；Charpy 有兩個溫度，母材一個、耐震銲材一個。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10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0.80、27 J、0.03 rad、1.1RyMp：容量設計的四個數字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降伏比</a:t>
            </a:r>
            <a:endParaRPr lang="en-US" sz="1300" dirty="0"/>
          </a:p>
        </p:txBody>
      </p:sp>
      <p:pic>
        <p:nvPicPr>
          <p:cNvPr id="7" name="Image 0" descr="formula_imgs/y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25" y="1847088"/>
            <a:ext cx="195687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Charpy 兩溫度</a:t>
            </a:r>
            <a:endParaRPr lang="en-US" sz="1300" dirty="0"/>
          </a:p>
        </p:txBody>
      </p:sp>
      <p:pic>
        <p:nvPicPr>
          <p:cNvPr id="11" name="Image 1" descr="formula_imgs/char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252" y="2962656"/>
            <a:ext cx="7746217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塑性轉角</a:t>
            </a:r>
            <a:endParaRPr lang="en-US" sz="1300" dirty="0"/>
          </a:p>
        </p:txBody>
      </p:sp>
      <p:pic>
        <p:nvPicPr>
          <p:cNvPr id="15" name="Image 2" descr="formula_imgs/th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181" y="4078224"/>
            <a:ext cx="4816359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強柱弱梁</a:t>
            </a:r>
            <a:endParaRPr lang="en-US" sz="1300" dirty="0"/>
          </a:p>
        </p:txBody>
      </p:sp>
      <p:pic>
        <p:nvPicPr>
          <p:cNvPr id="19" name="Image 3" descr="formula_imgs/scw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115" y="5193792"/>
            <a:ext cx="279649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降伏比要講兩層：① 結構層次 —— 降伏後還有應變硬化餘裕，塑鉸才轉得動而不立刻斷；② 容量設計層次 —— 上限 0.80 同時限制材料「過強」，避免梁的實際 Fy 遠高於設計值而讓強柱弱梁失效。Charpy 兩個溫度不要記反：母材 0°C、耐震梁柱接頭銲材 −29°C（銲道與 HAZ 是最弱環節，要求更嚴）。塑性轉角常被漏掉後半句：達到 0.03 rad 時彎矩仍須維持 0.8Mp 以上 —— 「轉得動」還要「撐得住」。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六個真的會讓你掉分的地方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T0 寫成 0.60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螺栓最小預拉力是 0.70FuAb。0.60FEXX 是填角銲的標稱剪力係數，一個是夾持力機制、一個是銲填金屬折減，完全無關。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螺栓與銲接載重相加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同一接合面不可寫 V = Vbolt + Vweld。銲道幾乎無位移就達強度、摩阻型滑動後才有 1–3 mm 位移，銲道會先獨自承受全部載重而脆斷。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SIS 等級方向記反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級最輕（氧化皮完整）、D 級最重（全面坑蝕）。銹蝕等級決定表面準備等級，塗裝失效多半敗在表面準備不足而非塗料品質。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2w 與 4w 混用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回銲「長度」至少 2w；填角銲「有效長度」至少 4w 且 ≥ 40 mm，未達 4w 的銲道全段不計入。兩個一起記才不會混。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鍍鋅溫度答 200 或 600°C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槽溫約 450°C，因為鋅熔點 420°C，要稍高才流動。另外 &gt; 200°C 使用環境會讓鍍層劣化 —— 這是兩件不同的事。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只寫形容詞不寫數字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說明題要寫成四段：機制 → 規定數字 → 為什麼訂這個數字 → 沒做到會怎樣。「要注意銲接品質」這種句子沒有配分。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 · 四組最容易記反的數字對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把容易混的兩個數字並排背，比各背一次有效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1</a:t>
            </a:r>
            <a:endParaRPr lang="en-US" sz="1300" dirty="0"/>
          </a:p>
        </p:txBody>
      </p:sp>
      <p:pic>
        <p:nvPicPr>
          <p:cNvPr id="7" name="Image 0" descr="formula_imgs/t0_v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22214"/>
            <a:ext cx="7772400" cy="5702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3</a:t>
            </a:r>
            <a:endParaRPr lang="en-US" sz="1300" dirty="0"/>
          </a:p>
        </p:txBody>
      </p:sp>
      <p:pic>
        <p:nvPicPr>
          <p:cNvPr id="11" name="Image 1" descr="formula_imgs/pair2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61747"/>
            <a:ext cx="7772400" cy="8660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4</a:t>
            </a:r>
            <a:endParaRPr lang="en-US" sz="1300" dirty="0"/>
          </a:p>
        </p:txBody>
      </p:sp>
      <p:pic>
        <p:nvPicPr>
          <p:cNvPr id="15" name="Image 2" descr="formula_imgs/pair4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5025712"/>
            <a:ext cx="7772400" cy="5129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2 沒有公式，但同樣常錯：SIS 銹蝕等級 A 最輕 → B 開始剝落 → C 大量剝落＋麻點 → D 最重。四組的共同點是「兩個數字很像、意義完全不同」：0.70 夾持力 vs. 0.60 銲填金屬折減；2w 回銲長度 vs. 4w 有效長度下限；450°C 施工溫度 vs. 420°C 鋅熔點。98 年 SS-2009-4⑤ 就是在測第一組，105 年 SS-2016-2 只問回銲、但第三組一起記才不會混。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KEY NUMBERS · 考前十分鐘只看這頁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十五個「寫出來就有分」的數字 —— 本單元的全部重量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家族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數字（不到半頁，卻覆蓋 13 題的絕大部分配分）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螺栓 幾何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T0 = 0.70 FuAb　s ≥ 3db　Le ≥ 1.5d　標準孔 = db + 3 mm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螺栓 施工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板面間隙 ≤2／2–6／&gt;6 mm　孔位偏差 ≤2／2–5／&gt;5 mm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銲接 尺寸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te = 0.707w　回銲 ≥ 2w　有效長度 ≥ 4w 且 ≥ 40 mm　最大銲腳 w ≤ t−2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銲接 最小銲腳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t≤6→3／6&lt;t≤12→5／12&lt;t≤19→6／19&lt;t≤38→8 mm（由較厚板決定）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銲接 氫管制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低氫銲條 300–400°C 烘烤 1–2 h、4 h 內用畢　Ceq &gt; 0.44% 銲接性下降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非破壞檢測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梁翼 CJP：UT 100%　MT 有效深度約 3 mm　銲材 Cv ≥ 27 J @ −29°C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防蝕塗裝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熱浸鍍鋅 450°C　鍍層 ≥ 85 μm　Sa 3／Rz ≥ 60 μm／4 h　銲道兩側各 50 mm 不塗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耐震細部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tz ≥ (dz+wz)/90　板厚 ≥ 40 mm 用 SN-C　YR ≤ 0.80　Charpy ≥ 27 J　θp ≥ 0.03 rad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1／2 · 窄式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螺栓與銲接尺寸｜一頁速查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最小預拉力 T0</a:t>
            </a:r>
            <a:endParaRPr lang="en-US" sz="1050" dirty="0"/>
          </a:p>
        </p:txBody>
      </p:sp>
      <p:pic>
        <p:nvPicPr>
          <p:cNvPr id="7" name="Image 0" descr="formula_imgs/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34216"/>
            <a:ext cx="3416808" cy="6906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扭力法（K 會失效）</a:t>
            </a:r>
            <a:endParaRPr lang="en-US" sz="1050" dirty="0"/>
          </a:p>
        </p:txBody>
      </p:sp>
      <p:pic>
        <p:nvPicPr>
          <p:cNvPr id="11" name="Image 1" descr="formula_imgs/tor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1975247"/>
            <a:ext cx="3416808" cy="100860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螺栓最小中心距</a:t>
            </a:r>
            <a:endParaRPr lang="en-US" sz="1050" dirty="0"/>
          </a:p>
        </p:txBody>
      </p:sp>
      <p:pic>
        <p:nvPicPr>
          <p:cNvPr id="15" name="Image 2" descr="formula_imgs/s3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578" y="1938528"/>
            <a:ext cx="2736084" cy="1082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最小邊距</a:t>
            </a:r>
            <a:endParaRPr lang="en-US" sz="1050" dirty="0"/>
          </a:p>
        </p:txBody>
      </p:sp>
      <p:pic>
        <p:nvPicPr>
          <p:cNvPr id="19" name="Image 3" descr="formula_imgs/le15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688015"/>
            <a:ext cx="3416808" cy="102730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標準孔孔徑</a:t>
            </a:r>
            <a:endParaRPr lang="en-US" sz="1050" dirty="0"/>
          </a:p>
        </p:txBody>
      </p:sp>
      <p:pic>
        <p:nvPicPr>
          <p:cNvPr id="23" name="Image 4" descr="formula_imgs/dho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904725"/>
            <a:ext cx="3416808" cy="59388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有效銲喉</a:t>
            </a:r>
            <a:endParaRPr lang="en-US" sz="1050" dirty="0"/>
          </a:p>
        </p:txBody>
      </p:sp>
      <p:pic>
        <p:nvPicPr>
          <p:cNvPr id="27" name="Image 5" descr="formula_imgs/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802772"/>
            <a:ext cx="3416808" cy="7977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回銲長度</a:t>
            </a:r>
            <a:endParaRPr lang="en-US" sz="1050" dirty="0"/>
          </a:p>
        </p:txBody>
      </p:sp>
      <p:pic>
        <p:nvPicPr>
          <p:cNvPr id="31" name="Image 6" descr="formula_imgs/endr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373" y="5382768"/>
            <a:ext cx="3045919" cy="10820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節點域最小厚度</a:t>
            </a:r>
            <a:endParaRPr lang="en-US" sz="1050" dirty="0"/>
          </a:p>
        </p:txBody>
      </p:sp>
      <p:pic>
        <p:nvPicPr>
          <p:cNvPr id="35" name="Image 7" descr="formula_imgs/tz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213" y="5382768"/>
            <a:ext cx="3000525" cy="108204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降伏比上限</a:t>
            </a:r>
            <a:endParaRPr lang="en-US" sz="1050" dirty="0"/>
          </a:p>
        </p:txBody>
      </p:sp>
      <p:pic>
        <p:nvPicPr>
          <p:cNvPr id="39" name="Image 8" descr="formula_imgs/y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444810"/>
            <a:ext cx="3416808" cy="95795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2／2 · 寬式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門檻數字組與材料要求｜一頁速查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填角銲有效長度</a:t>
            </a:r>
            <a:endParaRPr lang="en-US" sz="1050" dirty="0"/>
          </a:p>
        </p:txBody>
      </p:sp>
      <p:pic>
        <p:nvPicPr>
          <p:cNvPr id="7" name="Image 0" descr="formula_imgs/le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62700"/>
            <a:ext cx="5326380" cy="4031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最小銲腳尺寸（依較厚板）</a:t>
            </a:r>
            <a:endParaRPr lang="en-US" sz="1050" dirty="0"/>
          </a:p>
        </p:txBody>
      </p:sp>
      <p:pic>
        <p:nvPicPr>
          <p:cNvPr id="11" name="Image 1" descr="formula_imgs/w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138831"/>
            <a:ext cx="5326380" cy="25090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板面間隙三段門檻</a:t>
            </a:r>
            <a:endParaRPr lang="en-US" sz="1050" dirty="0"/>
          </a:p>
        </p:txBody>
      </p:sp>
      <p:pic>
        <p:nvPicPr>
          <p:cNvPr id="15" name="Image 2" descr="formula_imgs/gap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96997"/>
            <a:ext cx="5326380" cy="31775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孔位偏差三段門檻</a:t>
            </a:r>
            <a:endParaRPr lang="en-US" sz="1050" dirty="0"/>
          </a:p>
        </p:txBody>
      </p:sp>
      <p:pic>
        <p:nvPicPr>
          <p:cNvPr id="19" name="Image 3" descr="formula_imgs/off2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400761"/>
            <a:ext cx="5326380" cy="31022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碳當量 Ceq</a:t>
            </a:r>
            <a:endParaRPr lang="en-US" sz="1050" dirty="0"/>
          </a:p>
        </p:txBody>
      </p:sp>
      <p:pic>
        <p:nvPicPr>
          <p:cNvPr id="23" name="Image 4" descr="formula_imgs/ceq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601321"/>
            <a:ext cx="5326380" cy="49228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熱浸鍍鋅三數字</a:t>
            </a:r>
            <a:endParaRPr lang="en-US" sz="1050" dirty="0"/>
          </a:p>
        </p:txBody>
      </p:sp>
      <p:pic>
        <p:nvPicPr>
          <p:cNvPr id="27" name="Image 5" descr="formula_imgs/galv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708103"/>
            <a:ext cx="5326380" cy="2787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塗裝環境與膜厚</a:t>
            </a:r>
            <a:endParaRPr lang="en-US" sz="1050" dirty="0"/>
          </a:p>
        </p:txBody>
      </p:sp>
      <p:pic>
        <p:nvPicPr>
          <p:cNvPr id="31" name="Image 6" descr="formula_imgs/painten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974357"/>
            <a:ext cx="5326380" cy="329393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Charpy 兩個溫度</a:t>
            </a:r>
            <a:endParaRPr lang="en-US" sz="1050" dirty="0"/>
          </a:p>
        </p:txBody>
      </p:sp>
      <p:pic>
        <p:nvPicPr>
          <p:cNvPr id="35" name="Image 7" descr="formula_imgs/charp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950428"/>
            <a:ext cx="5326380" cy="37725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SS-U2-3｜四句話帶走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這個單元沒有「給不給」的問題：38 條裡 34 條 24 年零次印出，唯一 4 條例外全是別題順帶印的。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但它是六個子項裡投報率最高的：13 題全為說明題，15 個數字加 3 個答題骨架就覆蓋絕大部分配分。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說明題一律寫成四段 —— 機制 → 規定的數字 → 為什麼訂這個數字 → 沒做到會怎樣，形容詞沒有配分。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 年出現 13 次、平均每三年至少一題。如果考前只剩一個晚上，這一單元是你該先看的那一頁。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exam-wiki-SS</dc:creator>
  <cp:lastModifiedBy>exam-wiki-SS</cp:lastModifiedBy>
  <cp:revision>1</cp:revision>
  <dcterms:created xsi:type="dcterms:W3CDTF">2026-08-09T05:23:11Z</dcterms:created>
  <dcterms:modified xsi:type="dcterms:W3CDTF">2026-08-09T05:23:11Z</dcterms:modified>
</cp:coreProperties>
</file>