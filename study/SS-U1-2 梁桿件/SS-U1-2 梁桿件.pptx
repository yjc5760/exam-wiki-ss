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pn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png"/><Relationship Id="rId15" Type="http://schemas.openxmlformats.org/officeDocument/2006/relationships/image" Target="../media/image-22-15.png"/><Relationship Id="rId16" Type="http://schemas.openxmlformats.org/officeDocument/2006/relationships/image" Target="../media/image-22-16.png"/><Relationship Id="rId17" Type="http://schemas.openxmlformats.org/officeDocument/2006/relationships/image" Target="../media/image-22-17.png"/><Relationship Id="rId18" Type="http://schemas.openxmlformats.org/officeDocument/2006/relationships/image" Target="../media/image-22-18.png"/><Relationship Id="rId19" Type="http://schemas.openxmlformats.org/officeDocument/2006/relationships/image" Target="../media/image-22-19.png"/><Relationship Id="rId20" Type="http://schemas.openxmlformats.org/officeDocument/2006/relationships/image" Target="../media/image-22-20.png"/><Relationship Id="rId21" Type="http://schemas.openxmlformats.org/officeDocument/2006/relationships/image" Target="../media/image-22-21.png"/><Relationship Id="rId22" Type="http://schemas.openxmlformats.org/officeDocument/2006/relationships/image" Target="../media/image-22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STEEL BEAM ｜ 觀念講義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梁桿件（受撓構材）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不必死記幾十條公式 — 整個單元只在回答一個問題：這根梁有沒有資格把 Mp 用完？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1133856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核心考點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鋼結構設計「梁桿件（受撓構材）」觀念講義｜原理 → 三道關卡 → 代公式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本單元四塊拼圖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底層物理：LTB 的由來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上翼板受壓想側移、下翼板受拉不肯動，被腹板綁在一起 → 只能一邊側移一邊扭轉。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三道關卡（逐級扣減）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斷面本錢 Mp → 板件寬厚比 FLB → 側撐間距 LTB → 截頂 × φb，取最不利者控制。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獨立檢核線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腹板剪力 Vn 與服務載重下的使用性撓度 δ，與彎矩無關，但任一沒過一樣不合格。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代公式的坑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Zx ≠ Ix/c、殘留應力只動 Mr 與 Lr、弱軸沒有 LTB、多側撐段必須逐段算。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為什麼梁「側移」的同時一定會「扭轉」？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1_ltb_mechani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上翼板受壓，本質就是一根被壓的桿件，它想往側向（弱軸方向）挫屈。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下翼板受拉，張力具有自我穩定的效果，它被拉直、不肯側移。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兩片翼板被腹板強迫連結，一個想動一個不動 → 斷面只能扭著走，這就是側扭挫屈 LTB。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 LTB 的解答同時含側向彎曲勁度 EIy、扭轉勁度 GJ 與翹曲勁度 ECw — 這三個符號一出現就是 LTB 題。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記憶點：LTB 是「側移 u」與「扭轉 θ」的耦合行為，不是單純的側向挫屈。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OVERVIEW · 整體作答流程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拿到任何一題梁，先問這三句話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2763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整理斷面性質：Zx、Sx、Ix、ry（非對稱斷面須分開求 ENA 與 PNA）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0" y="2139696"/>
            <a:ext cx="0" cy="146304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0" y="2286000"/>
            <a:ext cx="3291840" cy="777240"/>
          </a:xfrm>
          <a:prstGeom prst="diamond">
            <a:avLst/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340864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關卡一：翼板 λf 與腹板 λw 都 ≤ λp 嗎？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3063240"/>
            <a:ext cx="-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是（結實）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355848"/>
            <a:ext cx="4809744" cy="1078992"/>
          </a:xfrm>
          <a:prstGeom prst="roundRect">
            <a:avLst>
              <a:gd name="adj" fmla="val 5932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3355848"/>
            <a:ext cx="45537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板件不會先皺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可進第二關爭取 Mp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3063240"/>
            <a:ext cx="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否（半結實／細長）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88736" y="3355848"/>
            <a:ext cx="4809744" cy="1078992"/>
          </a:xfrm>
          <a:prstGeom prst="roundRect">
            <a:avLst>
              <a:gd name="adj" fmla="val 5932"/>
            </a:avLst>
          </a:prstGeom>
          <a:solidFill>
            <a:srgbClr val="DCE6F0"/>
          </a:solidFill>
          <a:ln/>
        </p:spPr>
      </p:sp>
      <p:sp>
        <p:nvSpPr>
          <p:cNvPr id="18" name="Text 16"/>
          <p:cNvSpPr/>
          <p:nvPr/>
        </p:nvSpPr>
        <p:spPr>
          <a:xfrm>
            <a:off x="6016752" y="3355848"/>
            <a:ext cx="45537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板件中途挫屈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強度先做線性折減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27832" y="4434840"/>
            <a:ext cx="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93608" y="4434840"/>
            <a:ext cx="-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114800" y="4690872"/>
            <a:ext cx="3291840" cy="777240"/>
          </a:xfrm>
          <a:prstGeom prst="diamond">
            <a:avLst/>
          </a:prstGeom>
          <a:solidFill>
            <a:srgbClr val="1B2A41"/>
          </a:solidFill>
          <a:ln/>
        </p:spPr>
      </p:sp>
      <p:sp>
        <p:nvSpPr>
          <p:cNvPr id="22" name="Text 20"/>
          <p:cNvSpPr/>
          <p:nvPr/>
        </p:nvSpPr>
        <p:spPr>
          <a:xfrm>
            <a:off x="4251960" y="4745736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關卡二：無側撐長度 Lb 落在哪一區？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60720" y="5468112"/>
            <a:ext cx="-3377184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569208" y="5486400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569208" y="5486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Lb ≤ Lp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5760720"/>
            <a:ext cx="3121152" cy="1078992"/>
          </a:xfrm>
          <a:prstGeom prst="roundRect">
            <a:avLst>
              <a:gd name="adj" fmla="val 5932"/>
            </a:avLst>
          </a:prstGeom>
          <a:solidFill>
            <a:srgbClr val="DCE6F0"/>
          </a:solidFill>
          <a:ln/>
        </p:spPr>
      </p:sp>
      <p:sp>
        <p:nvSpPr>
          <p:cNvPr id="27" name="Text 25"/>
          <p:cNvSpPr/>
          <p:nvPr/>
        </p:nvSpPr>
        <p:spPr>
          <a:xfrm>
            <a:off x="950976" y="5760720"/>
            <a:ext cx="2865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塑性區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Mn = Mp（不乘 Cb）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760720" y="5468112"/>
            <a:ext cx="0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257800" y="5486400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257800" y="5486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Lp &lt; Lb ≤ Lr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00144" y="5760720"/>
            <a:ext cx="3121152" cy="1078992"/>
          </a:xfrm>
          <a:prstGeom prst="roundRect">
            <a:avLst>
              <a:gd name="adj" fmla="val 5932"/>
            </a:avLst>
          </a:prstGeom>
          <a:solidFill>
            <a:srgbClr val="DCE6F0"/>
          </a:solidFill>
          <a:ln/>
        </p:spPr>
      </p:sp>
      <p:sp>
        <p:nvSpPr>
          <p:cNvPr id="32" name="Text 30"/>
          <p:cNvSpPr/>
          <p:nvPr/>
        </p:nvSpPr>
        <p:spPr>
          <a:xfrm>
            <a:off x="4328160" y="5760720"/>
            <a:ext cx="2865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非彈性 LTB 區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線性內插 × Cb ≤ Mp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760720" y="5468112"/>
            <a:ext cx="3377184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946392" y="5486400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946392" y="5486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Lb &gt; Lr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577328" y="5760720"/>
            <a:ext cx="3121152" cy="1078992"/>
          </a:xfrm>
          <a:prstGeom prst="roundRect">
            <a:avLst>
              <a:gd name="adj" fmla="val 5932"/>
            </a:avLst>
          </a:prstGeom>
          <a:solidFill>
            <a:srgbClr val="DCE6F0"/>
          </a:solidFill>
          <a:ln/>
        </p:spPr>
      </p:sp>
      <p:sp>
        <p:nvSpPr>
          <p:cNvPr id="37" name="Text 35"/>
          <p:cNvSpPr/>
          <p:nvPr/>
        </p:nvSpPr>
        <p:spPr>
          <a:xfrm>
            <a:off x="7705344" y="5760720"/>
            <a:ext cx="2865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 LTB 區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min(Cb·Mcr, Mp)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2960" y="609904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兩關都過完後取最不利者，再乘 φb = 0.90；最後別忘了回頭補剪力與撓度兩條獨立檢核線。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架構圖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斷面先給本錢，關卡只會往下扣 — 永遠不會往上加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2_three_g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Mp = Fy·Zx 是這個斷面的天花板，所有後續計算都只能等於或低於它。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三道關卡是串聯的：任一關沒過就要打折，最後取最不利者控制。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剪力與撓度不在這條流水線上，但它們是獨立的淘汰線 — 沒過一樣要改斷面。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所有折減公式最後都必須做 ≤ Mp 的截頂，這是閱卷最常扣分的一步。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斷面本錢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起手式：先把 Mp、Zx、Sx 的關係釐清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塑性彎矩容量（天花板）</a:t>
            </a:r>
            <a:endParaRPr lang="en-US" sz="1300" dirty="0"/>
          </a:p>
        </p:txBody>
      </p:sp>
      <p:pic>
        <p:nvPicPr>
          <p:cNvPr id="7" name="Image 0" descr="formula_imgs/f_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5566" y="1847088"/>
            <a:ext cx="3393588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塑性斷面模數：PNA 上下面積對 PNA 取一次矩總和</a:t>
            </a:r>
            <a:endParaRPr lang="en-US" sz="1300" dirty="0"/>
          </a:p>
        </p:txBody>
      </p:sp>
      <p:pic>
        <p:nvPicPr>
          <p:cNvPr id="11" name="Image 1" descr="formula_imgs/f_z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776" y="3334512"/>
            <a:ext cx="6419168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彈性斷面模數（注意兩者不同）</a:t>
            </a:r>
            <a:endParaRPr lang="en-US" sz="1300" dirty="0"/>
          </a:p>
        </p:txBody>
      </p:sp>
      <p:pic>
        <p:nvPicPr>
          <p:cNvPr id="15" name="Image 2" descr="formula_imgs/f_s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974" y="4821936"/>
            <a:ext cx="5212772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Zx 的計算完全不需要 Ix：先找等面積軸 PNA，再把上下兩塊面積各自乘上「該塊形心到 PNA 的距離」相加即可。Sx 才是用 Ix 除以最外緣距離 c。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同一個斷面，為什麼有兩個中性軸？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8_zx_s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彈性階段應力呈三角形分布，只有最外緣到達 f → 中性軸落在形心（ENA），一次矩相等。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全斷面降伏後應力是上下兩塊矩形 ±Fy → 力平衡要求受壓面積 = 受拉面積，中性軸移到等面積軸（PNA）。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形狀因子 Zx/Sx 就是塑性設計比彈性設計多賺的那一段：H 型強軸約 1.10~1.20。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對稱斷面 ENA = PNA；非對稱斷面（如單槽鋼、加勁 T 型）兩者不同，必須分開計算。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關卡一 局部挫屈 FLB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板的尺度：寬厚比怎麼量、怎麼比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翼板寬厚比（懸臂板，懸出長度是「半寬」）</a:t>
            </a:r>
            <a:endParaRPr lang="en-US" sz="1300" dirty="0"/>
          </a:p>
        </p:txBody>
      </p:sp>
      <p:pic>
        <p:nvPicPr>
          <p:cNvPr id="7" name="Image 0" descr="formula_imgs/f_lam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4381" y="1847088"/>
            <a:ext cx="1515958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腹板寬厚比（兩端支承板，h 為腹板「淨高」）</a:t>
            </a:r>
            <a:endParaRPr lang="en-US" sz="1300" dirty="0"/>
          </a:p>
        </p:txBody>
      </p:sp>
      <p:pic>
        <p:nvPicPr>
          <p:cNvPr id="11" name="Image 1" descr="formula_imgs/f_lam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400" y="3334512"/>
            <a:ext cx="1713920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與規範限值比對，判定結實／半結實</a:t>
            </a:r>
            <a:endParaRPr lang="en-US" sz="1300" dirty="0"/>
          </a:p>
        </p:txBody>
      </p:sp>
      <p:pic>
        <p:nvPicPr>
          <p:cNvPr id="15" name="Image 2" descr="formula_imgs/f_lamz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995410"/>
            <a:ext cx="7772400" cy="5735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翼板與腹板必須分別檢核，兩者都 ≤ λp 才算結實斷面。任一項落入半結實，該項的折減值就是這一關的答案。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為什麼翼板要除以 2、腹板卻用淨高？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3_width_thick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翼板只有一邊被腹板撐住，等同一片懸臂板 → 有效懸出長度只有 bf/2，最容易先皺。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腹板上下都被翼板夾住，是兩端支承板 → 邊界條件強得多，λp 限值也寬鬆得多。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腹板寬厚比取的是「淨高 h」（扣掉翼板厚與圓角），不是全深 d。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同一題裡 d 與 h 會同時出現：剪力面積用 d、寬厚比用 h — 代錯就整題報銷。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板件的三分區：結實 / 半結實 / 細長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4_compactness_z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結實（λ ≤ λp）：板件撐得住，強度可以爭取到 Mp，交給關卡二去判。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半結實（λp &lt; λ ≤ λr）：板件在到達 Mp 之前就挫屈，強度在 Mp 與 Mr 之間線性折減。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細長（λ &gt; λr）：進入彈性局部挫屈，折減最重，實務上通常直接改用較厚的板。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注意這條折線的長相與關卡二的 Mn–Lb 曲線完全一樣 — 只是橫軸換成 λ，記一次就好。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關卡二 分界點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先算出四個數字：Mp、Mr、Lp、Lr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殘留應力（熱軋 / 銲接）</a:t>
            </a:r>
            <a:endParaRPr lang="en-US" sz="1300" dirty="0"/>
          </a:p>
        </p:txBody>
      </p:sp>
      <p:pic>
        <p:nvPicPr>
          <p:cNvPr id="7" name="Image 0" descr="formula_imgs/f_f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0129" y="1847088"/>
            <a:ext cx="7404463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開始降伏彎矩 — 折線的右端點高度</a:t>
            </a:r>
            <a:endParaRPr lang="en-US" sz="1300" dirty="0"/>
          </a:p>
        </p:txBody>
      </p:sp>
      <p:pic>
        <p:nvPicPr>
          <p:cNvPr id="11" name="Image 1" descr="formula_imgs/f_m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826" y="2962656"/>
            <a:ext cx="4295067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塑性區與非彈性區的分界長度</a:t>
            </a:r>
            <a:endParaRPr lang="en-US" sz="1300" dirty="0"/>
          </a:p>
        </p:txBody>
      </p:sp>
      <p:pic>
        <p:nvPicPr>
          <p:cNvPr id="15" name="Image 2" descr="formula_imgs/f_l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228" y="4078224"/>
            <a:ext cx="1830263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非彈性區與彈性區的分界長度</a:t>
            </a:r>
            <a:endParaRPr lang="en-US" sz="1300" dirty="0"/>
          </a:p>
        </p:txBody>
      </p:sp>
      <p:pic>
        <p:nvPicPr>
          <p:cNvPr id="19" name="Image 3" descr="formula_imgs/f_l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371" y="5193792"/>
            <a:ext cx="2651977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 式中的 X1、X2 為斷面常數（X1 = (π/Sx)√(EGJA/2)，X2 = 4(Cw/Iy)(Sx/GJ)²），多數題目會直接給。FL = Fy − Fr 是 Fr 唯一會出現的第二個地方。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殘留應力吃掉的是「開始降伏」，不是「全斷面降伏」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6_residual_st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軋製冷卻不均，翼板尖端殘留壓應力、翼腹交會處殘留拉應力，整體自平衡（合力與合彎矩都是 0）。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加上外加彎曲應力後，尖端只剩 Fy − Fr 的餘量 → 提早降伏 → Mr = (Fy − Fr)Sx。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但繼續加載到全斷面降伏時，自平衡的殘留應力完全被抹平 → Mp = Fy·Zx 一點都不受影響。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 Fr 只進入兩個地方：Mr 與 Lr。看到題目給 Fr，Mp 那一行看都不要看它一眼。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核心圖解 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全單元最核心的一張圖：Mn 隨 Lb 的三區段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5_mn_lb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曲線的左端高度是 Mp（只跟 Fy、Zx 有關），右折點高度是 Mr（Fr 在這裡出現）。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Lp、Lr 是兩個橫軸分界；判斷 Lb 落在哪一段，就決定要代哪一條公式。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Cb 把整條曲線往上抬，但天花板 Mp 不會跟著抬 → 抬過頭的那一段一律削平（截頂）。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側撐越密 → Lb 越短 → 越靠左 → 越能發揮 Mp。這就是「加側撐」為什麼是最便宜的補強手段。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考場上先在草稿紙畫這張圖、標上 Lp、Lr 與你的 Lb，代錯公式的機率會大幅下降。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關卡二 三區段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判定區段之後，直接對號入座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塑性區：側撐極密，完全發揮強度</a:t>
            </a:r>
            <a:endParaRPr lang="en-US" sz="1300" dirty="0"/>
          </a:p>
        </p:txBody>
      </p:sp>
      <p:pic>
        <p:nvPicPr>
          <p:cNvPr id="7" name="Image 0" descr="formula_imgs/f_mn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7998" y="1847088"/>
            <a:ext cx="3588723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非彈性 LTB 區：線性內插 + 彎矩梯度紅利（最常考）</a:t>
            </a:r>
            <a:endParaRPr lang="en-US" sz="1300" dirty="0"/>
          </a:p>
        </p:txBody>
      </p:sp>
      <p:pic>
        <p:nvPicPr>
          <p:cNvPr id="11" name="Image 1" descr="formula_imgs/f_mn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228" y="2962656"/>
            <a:ext cx="4406265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彈性 LTB 區：全斷面彈性挫屈</a:t>
            </a:r>
            <a:endParaRPr lang="en-US" sz="1300" dirty="0"/>
          </a:p>
        </p:txBody>
      </p:sp>
      <p:pic>
        <p:nvPicPr>
          <p:cNvPr id="15" name="Image 2" descr="formula_imgs/f_mn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736" y="4078224"/>
            <a:ext cx="5757248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彈性挫屈彎矩（側向彎曲 + 扭轉 + 翹曲）</a:t>
            </a:r>
            <a:endParaRPr lang="en-US" sz="1300" dirty="0"/>
          </a:p>
        </p:txBody>
      </p:sp>
      <p:pic>
        <p:nvPicPr>
          <p:cNvPr id="19" name="Image 3" descr="formula_imgs/f_mc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5654" y="5193792"/>
            <a:ext cx="3493412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②③ 兩區都要乘 Cb 並做 ≤ Mp 的截頂；① 區已經是 Mp，乘了也沒有用。三個區段最後都再乘 φb = 0.90。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彎矩梯度係數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Cb：把「彎矩圖不飽滿」換成強度紅利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四分點取樣法（各項均取絕對值）</a:t>
            </a:r>
            <a:endParaRPr lang="en-US" sz="1300" dirty="0"/>
          </a:p>
        </p:txBody>
      </p:sp>
      <p:pic>
        <p:nvPicPr>
          <p:cNvPr id="7" name="Image 0" descr="formula_imgs/f_c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271618"/>
            <a:ext cx="7772400" cy="10462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Mmax 為該無側撐段的最大彎矩，MA、MB、MC 分別為該段四分點、中點、四分之三點的彎矩。Cb = 1.0 永遠偏保守，時間不夠或條件不明時可直接取 1.0 交卷。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同樣的 Lb，為什麼有的梁撐得比較多？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7_cb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均勻彎矩時整段每個斷面都吃滿 M，沒有任何鄰居能幫忙撐 → 最不利，Cb = 1.0 是基準。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彎矩有梯度時，只有一個斷面接近滿彎矩，其餘斷面還有餘力拉住它 → 抗 LTB 能力提高。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 Cb 不是「安全係數」，它是把不利程度標準化回均勻彎矩的換算係數。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Cb 上限 3.0；乘完之後仍必須檢查 Mn ≤ Mp。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梁上有多個側撐點時，該用哪一段？— 全部都要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11_multi_b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每一段都有自己的 Lb 與 Cb，也有自己的 Mu，必須逐段配對比較，不能用全梁最大彎矩一概而論。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Lb 最長的那段不一定最危險：Cb 的紅利常常把它救回來。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跨中段往往 Lb 短、但 Cb ≈ 1 又碰上最大彎矩，反而是控制段。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檢核時三段都要過；只要有一段 φbMn &lt; Mu，就得加密側撐或換斷面。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獨立檢核線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收尾兩刀：剪力與使用性撓度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腹板抗剪強度（剪力面積用全深 d）</a:t>
            </a:r>
            <a:endParaRPr lang="en-US" sz="1300" dirty="0"/>
          </a:p>
        </p:txBody>
      </p:sp>
      <p:pic>
        <p:nvPicPr>
          <p:cNvPr id="7" name="Image 0" descr="formula_imgs/f_v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1485" y="1847088"/>
            <a:ext cx="520175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設計式（彎矩與剪力各自檢核）</a:t>
            </a:r>
            <a:endParaRPr lang="en-US" sz="1300" dirty="0"/>
          </a:p>
        </p:txBody>
      </p:sp>
      <p:pic>
        <p:nvPicPr>
          <p:cNvPr id="11" name="Image 1" descr="formula_imgs/f_ph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716" y="2962656"/>
            <a:ext cx="6509288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使用性撓度：必用服務載重與彈性 Ix</a:t>
            </a:r>
            <a:endParaRPr lang="en-US" sz="1300" dirty="0"/>
          </a:p>
        </p:txBody>
      </p:sp>
      <p:pic>
        <p:nvPicPr>
          <p:cNvPr id="15" name="Image 2" descr="formula_imgs/f_def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434" y="4078224"/>
            <a:ext cx="4851852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兩者載重組合完全不同 — 最常見的代錯</a:t>
            </a:r>
            <a:endParaRPr lang="en-US" sz="1300" dirty="0"/>
          </a:p>
        </p:txBody>
      </p:sp>
      <p:pic>
        <p:nvPicPr>
          <p:cNvPr id="19" name="Image 3" descr="formula_imgs/f_l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955" y="5193792"/>
            <a:ext cx="703081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撓度是使用性（舒適與觀感）議題，不是強度議題，所以絕對不能用因數化載重 1.2D + 1.6L；強度檢核才用因數化載重。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剪力面積為什麼是 d × tw，不是 h × tw？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9_shear_ar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剪應力沿深度呈拋物線分布，腹板吃掉約 95%，翼板貢獻極小，規範直接忽略翼板。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腹板與翼板交會處仍在傳遞剪力，因此規範保守地取整個腹板全深 d 來簡化。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0.6Fy 來自 von Mises：剪力降伏應力約為 Fy/√3 ≈ 0.577Fy，規範取 0.6Fy。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Cv 是腹板剪力挫屈折減；腹板夠厚（h/tw 小）時 Cv = 1.0。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弱軸彎曲為什麼免檢 LTB？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10_weak_ax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強軸彎曲時，受壓翼板要挫屈是往弱軸方向跑，那個方向勁度小（Iy 小）→ LTB 會發生。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弱軸彎曲時，受壓區要挫屈必須往強軸方向跑，那個方向勁度更大（Ix 大）→ 根本挫不動。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所以弱軸的 Mn 與 Lb、Cb 完全無關，題目給側撐間距也不要理它。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但弱軸另有矩形形狀因子上限 Mny = min(Fy·Zy, 1.5·Fy·Sy)，避免使用階段變形過大。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雙軸彎曲時，兩軸各自求 Mn 之後再用交互公式（Mux/φbMnx + Muy/φbMny ≤ 1.0）合併檢核。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 FLOW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七步解題決策流程：前三分鐘腦中先跑一次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從斷面性質到 φbMn，再補上兩條獨立檢核線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梁桿件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算斷面性質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Zx、Sx、Ix、ry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3490722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驗寬厚比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λf、λw vs λp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結實：進第二關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爭取 Mp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2492" y="1933956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15" name="Text 13"/>
          <p:cNvSpPr/>
          <p:nvPr/>
        </p:nvSpPr>
        <p:spPr>
          <a:xfrm>
            <a:off x="6332220" y="1933956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非結實：先做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線性折減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圈側撐點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 Lb、算 Cb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82278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210294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算分界點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Mp、Mr、Lp、Lr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22492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350508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⑤ 判定區段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對號入座代公式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62706" y="2779776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23" name="Text 21"/>
          <p:cNvSpPr/>
          <p:nvPr/>
        </p:nvSpPr>
        <p:spPr>
          <a:xfrm>
            <a:off x="3472434" y="2779776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Lb ≤ Lp：Mn = Mp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62706" y="3232404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25" name="Text 23"/>
          <p:cNvSpPr/>
          <p:nvPr/>
        </p:nvSpPr>
        <p:spPr>
          <a:xfrm>
            <a:off x="3472434" y="3232404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Lp&lt;Lb≤Lr：線性內插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⑥ 乘 Cb 並截頂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Mn ≤ Mp，再 × φb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066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966460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966460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826246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826246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0822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222492" y="3200400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222492" y="3200400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362706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362706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80479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02920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φb Mn ≥ Mu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3380994" y="4032504"/>
            <a:ext cx="8305038" cy="749808"/>
          </a:xfrm>
          <a:prstGeom prst="roundRect">
            <a:avLst>
              <a:gd name="adj" fmla="val 9756"/>
            </a:avLst>
          </a:prstGeom>
          <a:solidFill>
            <a:srgbClr val="DCE6F0"/>
          </a:solidFill>
          <a:ln w="15875">
            <a:solidFill>
              <a:srgbClr val="4C6B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3874" y="4032504"/>
            <a:ext cx="79392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⑦ 收尾檢核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腹板剪力 φvVn ≥ Vu（Aw = d×tw）；服務載重下的撓度 δ ≤ L/360（用 Ix，不可用因數化載重）。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交卷前必做的三個確認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7" name="Text 45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截頂了嗎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Mn ≤ Mp，乘完 Cb 後一定要再看一次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9" name="Text 47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Fr 放對了嗎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只進 Mr 與 Lr，不進 Mp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1" name="Text 49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分段了嗎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多側撐時逐段各算各的 Lb、Cb、Mu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梁桿件｜全公式一頁速查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塑性彎矩（天花板）</a:t>
            </a:r>
            <a:endParaRPr lang="en-US" sz="1050" dirty="0"/>
          </a:p>
        </p:txBody>
      </p:sp>
      <p:pic>
        <p:nvPicPr>
          <p:cNvPr id="7" name="Image 0" descr="formula_imgs/f_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596" y="1938528"/>
            <a:ext cx="814686" cy="2209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21558" y="155448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3321558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3431286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塑性斷面模數</a:t>
            </a:r>
            <a:endParaRPr lang="en-US" sz="1050" dirty="0"/>
          </a:p>
        </p:txBody>
      </p:sp>
      <p:pic>
        <p:nvPicPr>
          <p:cNvPr id="11" name="Image 1" descr="formula_imgs/f_z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784" y="1938528"/>
            <a:ext cx="1541026" cy="2209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85916" y="155448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6185916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6295644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彈性斷面模數</a:t>
            </a:r>
            <a:endParaRPr lang="en-US" sz="1050" dirty="0"/>
          </a:p>
        </p:txBody>
      </p:sp>
      <p:pic>
        <p:nvPicPr>
          <p:cNvPr id="15" name="Image 2" descr="formula_imgs/f_s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950" y="1938528"/>
            <a:ext cx="1251411" cy="2209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50274" y="155448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9050274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9160002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翼板寬厚比</a:t>
            </a:r>
            <a:endParaRPr lang="en-US" sz="1050" dirty="0"/>
          </a:p>
        </p:txBody>
      </p:sp>
      <p:pic>
        <p:nvPicPr>
          <p:cNvPr id="19" name="Image 3" descr="formula_imgs/f_lam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9048" y="1938528"/>
            <a:ext cx="363930" cy="2209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241554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241554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250698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腹板寬厚比</a:t>
            </a:r>
            <a:endParaRPr lang="en-US" sz="1050" dirty="0"/>
          </a:p>
        </p:txBody>
      </p:sp>
      <p:pic>
        <p:nvPicPr>
          <p:cNvPr id="23" name="Image 4" descr="formula_imgs/f_lam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2212" y="2799588"/>
            <a:ext cx="411454" cy="22098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21558" y="241554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3321558" y="241554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3431286" y="250698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板件分區</a:t>
            </a:r>
            <a:endParaRPr lang="en-US" sz="1050" dirty="0"/>
          </a:p>
        </p:txBody>
      </p:sp>
      <p:pic>
        <p:nvPicPr>
          <p:cNvPr id="27" name="Image 5" descr="formula_imgs/f_lamzo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1286" y="2819238"/>
            <a:ext cx="2462022" cy="18168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85916" y="241554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6185916" y="241554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6295644" y="250698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局部挫屈折減</a:t>
            </a:r>
            <a:endParaRPr lang="en-US" sz="1050" dirty="0"/>
          </a:p>
        </p:txBody>
      </p:sp>
      <p:pic>
        <p:nvPicPr>
          <p:cNvPr id="31" name="Image 6" descr="formula_imgs/f_fl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1456" y="2799588"/>
            <a:ext cx="1290399" cy="22098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50274" y="241554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9050274" y="241554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9160002" y="250698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殘留應力</a:t>
            </a:r>
            <a:endParaRPr lang="en-US" sz="1050" dirty="0"/>
          </a:p>
        </p:txBody>
      </p:sp>
      <p:pic>
        <p:nvPicPr>
          <p:cNvPr id="35" name="Image 7" descr="formula_imgs/f_f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0002" y="2818865"/>
            <a:ext cx="2462022" cy="182426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327660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327660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336804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開始降伏彎矩</a:t>
            </a:r>
            <a:endParaRPr lang="en-US" sz="1050" dirty="0"/>
          </a:p>
        </p:txBody>
      </p:sp>
      <p:pic>
        <p:nvPicPr>
          <p:cNvPr id="39" name="Image 8" descr="formula_imgs/f_m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960" y="3660648"/>
            <a:ext cx="1729958" cy="220980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21558" y="327660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3321558" y="327660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3431286" y="336804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塑性區界限長度</a:t>
            </a:r>
            <a:endParaRPr lang="en-US" sz="1050" dirty="0"/>
          </a:p>
        </p:txBody>
      </p:sp>
      <p:pic>
        <p:nvPicPr>
          <p:cNvPr id="43" name="Image 9" descr="formula_imgs/f_lp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3702" y="3660648"/>
            <a:ext cx="737189" cy="220980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85916" y="327660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6185916" y="327660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6295644" y="336804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彈性區界限長度</a:t>
            </a:r>
            <a:endParaRPr lang="en-US" sz="1050" dirty="0"/>
          </a:p>
        </p:txBody>
      </p:sp>
      <p:pic>
        <p:nvPicPr>
          <p:cNvPr id="47" name="Image 10" descr="formula_imgs/f_l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2576" y="3660648"/>
            <a:ext cx="1068157" cy="220980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50274" y="327660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9050274" y="327660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9160002" y="336804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斷面常數 X1</a:t>
            </a:r>
            <a:endParaRPr lang="en-US" sz="1050" dirty="0"/>
          </a:p>
        </p:txBody>
      </p:sp>
      <p:pic>
        <p:nvPicPr>
          <p:cNvPr id="51" name="Image 11" descr="formula_imgs/f_x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31995" y="3660648"/>
            <a:ext cx="718035" cy="220980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413766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斷面常數 X2</a:t>
            </a:r>
            <a:endParaRPr lang="en-US" sz="1050" dirty="0"/>
          </a:p>
        </p:txBody>
      </p:sp>
      <p:pic>
        <p:nvPicPr>
          <p:cNvPr id="55" name="Image 12" descr="formula_imgs/f_x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3898" y="4521708"/>
            <a:ext cx="748082" cy="220980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21558" y="413766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3321558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3431286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塑性區</a:t>
            </a:r>
            <a:endParaRPr lang="en-US" sz="1050" dirty="0"/>
          </a:p>
        </p:txBody>
      </p:sp>
      <p:pic>
        <p:nvPicPr>
          <p:cNvPr id="59" name="Image 13" descr="formula_imgs/f_mn1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39568" y="4521708"/>
            <a:ext cx="1445458" cy="220980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85916" y="413766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6185916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6295644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非彈性區（最常考）</a:t>
            </a:r>
            <a:endParaRPr lang="en-US" sz="1050" dirty="0"/>
          </a:p>
        </p:txBody>
      </p:sp>
      <p:pic>
        <p:nvPicPr>
          <p:cNvPr id="63" name="Image 14" descr="formula_imgs/f_mn2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39282" y="4521708"/>
            <a:ext cx="1774746" cy="220980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50274" y="413766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65" name="Shape 48"/>
          <p:cNvSpPr/>
          <p:nvPr/>
        </p:nvSpPr>
        <p:spPr>
          <a:xfrm>
            <a:off x="9050274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6" name="Text 49"/>
          <p:cNvSpPr/>
          <p:nvPr/>
        </p:nvSpPr>
        <p:spPr>
          <a:xfrm>
            <a:off x="9160002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彈性區</a:t>
            </a:r>
            <a:endParaRPr lang="en-US" sz="1050" dirty="0"/>
          </a:p>
        </p:txBody>
      </p:sp>
      <p:pic>
        <p:nvPicPr>
          <p:cNvPr id="67" name="Image 15" descr="formula_imgs/f_mn3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31567" y="4521708"/>
            <a:ext cx="2318891" cy="220980"/>
          </a:xfrm>
          <a:prstGeom prst="rect">
            <a:avLst/>
          </a:prstGeom>
        </p:spPr>
      </p:pic>
      <p:sp>
        <p:nvSpPr>
          <p:cNvPr id="68" name="Shape 50"/>
          <p:cNvSpPr/>
          <p:nvPr/>
        </p:nvSpPr>
        <p:spPr>
          <a:xfrm>
            <a:off x="457200" y="499872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69" name="Shape 51"/>
          <p:cNvSpPr/>
          <p:nvPr/>
        </p:nvSpPr>
        <p:spPr>
          <a:xfrm>
            <a:off x="457200" y="499872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70" name="Text 52"/>
          <p:cNvSpPr/>
          <p:nvPr/>
        </p:nvSpPr>
        <p:spPr>
          <a:xfrm>
            <a:off x="566928" y="509016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彈性挫屈彎矩</a:t>
            </a:r>
            <a:endParaRPr lang="en-US" sz="1050" dirty="0"/>
          </a:p>
        </p:txBody>
      </p:sp>
      <p:pic>
        <p:nvPicPr>
          <p:cNvPr id="71" name="Image 16" descr="formula_imgs/f_mc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4405" y="5382768"/>
            <a:ext cx="1407069" cy="220980"/>
          </a:xfrm>
          <a:prstGeom prst="rect">
            <a:avLst/>
          </a:prstGeom>
        </p:spPr>
      </p:pic>
      <p:sp>
        <p:nvSpPr>
          <p:cNvPr id="72" name="Shape 53"/>
          <p:cNvSpPr/>
          <p:nvPr/>
        </p:nvSpPr>
        <p:spPr>
          <a:xfrm>
            <a:off x="3321558" y="499872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73" name="Shape 54"/>
          <p:cNvSpPr/>
          <p:nvPr/>
        </p:nvSpPr>
        <p:spPr>
          <a:xfrm>
            <a:off x="3321558" y="499872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74" name="Text 55"/>
          <p:cNvSpPr/>
          <p:nvPr/>
        </p:nvSpPr>
        <p:spPr>
          <a:xfrm>
            <a:off x="3431286" y="509016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彎矩梯度係數</a:t>
            </a:r>
            <a:endParaRPr lang="en-US" sz="1050" dirty="0"/>
          </a:p>
        </p:txBody>
      </p:sp>
      <p:pic>
        <p:nvPicPr>
          <p:cNvPr id="75" name="Image 17" descr="formula_imgs/f_cb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41514" y="5382768"/>
            <a:ext cx="1641566" cy="220980"/>
          </a:xfrm>
          <a:prstGeom prst="rect">
            <a:avLst/>
          </a:prstGeom>
        </p:spPr>
      </p:pic>
      <p:sp>
        <p:nvSpPr>
          <p:cNvPr id="76" name="Shape 56"/>
          <p:cNvSpPr/>
          <p:nvPr/>
        </p:nvSpPr>
        <p:spPr>
          <a:xfrm>
            <a:off x="6185916" y="499872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77" name="Shape 57"/>
          <p:cNvSpPr/>
          <p:nvPr/>
        </p:nvSpPr>
        <p:spPr>
          <a:xfrm>
            <a:off x="6185916" y="499872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78" name="Text 58"/>
          <p:cNvSpPr/>
          <p:nvPr/>
        </p:nvSpPr>
        <p:spPr>
          <a:xfrm>
            <a:off x="6295644" y="509016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腹板抗剪</a:t>
            </a:r>
            <a:endParaRPr lang="en-US" sz="1050" dirty="0"/>
          </a:p>
        </p:txBody>
      </p:sp>
      <p:pic>
        <p:nvPicPr>
          <p:cNvPr id="79" name="Image 18" descr="formula_imgs/f_vn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9080" y="5382768"/>
            <a:ext cx="2095149" cy="220980"/>
          </a:xfrm>
          <a:prstGeom prst="rect">
            <a:avLst/>
          </a:prstGeom>
        </p:spPr>
      </p:pic>
      <p:sp>
        <p:nvSpPr>
          <p:cNvPr id="80" name="Shape 59"/>
          <p:cNvSpPr/>
          <p:nvPr/>
        </p:nvSpPr>
        <p:spPr>
          <a:xfrm>
            <a:off x="9050274" y="499872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81" name="Shape 60"/>
          <p:cNvSpPr/>
          <p:nvPr/>
        </p:nvSpPr>
        <p:spPr>
          <a:xfrm>
            <a:off x="9050274" y="499872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82" name="Text 61"/>
          <p:cNvSpPr/>
          <p:nvPr/>
        </p:nvSpPr>
        <p:spPr>
          <a:xfrm>
            <a:off x="9160002" y="509016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設計式</a:t>
            </a:r>
            <a:endParaRPr lang="en-US" sz="1050" dirty="0"/>
          </a:p>
        </p:txBody>
      </p:sp>
      <p:pic>
        <p:nvPicPr>
          <p:cNvPr id="83" name="Image 19" descr="formula_imgs/f_phi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60002" y="5389501"/>
            <a:ext cx="2462022" cy="207513"/>
          </a:xfrm>
          <a:prstGeom prst="rect">
            <a:avLst/>
          </a:prstGeom>
        </p:spPr>
      </p:pic>
      <p:sp>
        <p:nvSpPr>
          <p:cNvPr id="84" name="Shape 62"/>
          <p:cNvSpPr/>
          <p:nvPr/>
        </p:nvSpPr>
        <p:spPr>
          <a:xfrm>
            <a:off x="457200" y="585978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85" name="Shape 63"/>
          <p:cNvSpPr/>
          <p:nvPr/>
        </p:nvSpPr>
        <p:spPr>
          <a:xfrm>
            <a:off x="457200" y="58597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86" name="Text 64"/>
          <p:cNvSpPr/>
          <p:nvPr/>
        </p:nvSpPr>
        <p:spPr>
          <a:xfrm>
            <a:off x="566928" y="59512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使用性撓度</a:t>
            </a:r>
            <a:endParaRPr lang="en-US" sz="1050" dirty="0"/>
          </a:p>
        </p:txBody>
      </p:sp>
      <p:pic>
        <p:nvPicPr>
          <p:cNvPr id="87" name="Image 20" descr="formula_imgs/f_defl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0830" y="6243828"/>
            <a:ext cx="1954218" cy="220980"/>
          </a:xfrm>
          <a:prstGeom prst="rect">
            <a:avLst/>
          </a:prstGeom>
        </p:spPr>
      </p:pic>
      <p:sp>
        <p:nvSpPr>
          <p:cNvPr id="88" name="Shape 65"/>
          <p:cNvSpPr/>
          <p:nvPr/>
        </p:nvSpPr>
        <p:spPr>
          <a:xfrm>
            <a:off x="3321558" y="5859780"/>
            <a:ext cx="2681478" cy="678180"/>
          </a:xfrm>
          <a:prstGeom prst="roundRect">
            <a:avLst>
              <a:gd name="adj" fmla="val 8090"/>
            </a:avLst>
          </a:prstGeom>
          <a:solidFill>
            <a:srgbClr val="F4F6F9"/>
          </a:solidFill>
          <a:ln/>
        </p:spPr>
      </p:sp>
      <p:sp>
        <p:nvSpPr>
          <p:cNvPr id="89" name="Shape 66"/>
          <p:cNvSpPr/>
          <p:nvPr/>
        </p:nvSpPr>
        <p:spPr>
          <a:xfrm>
            <a:off x="3321558" y="58597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0" name="Text 67"/>
          <p:cNvSpPr/>
          <p:nvPr/>
        </p:nvSpPr>
        <p:spPr>
          <a:xfrm>
            <a:off x="3431286" y="59512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弱軸上限</a:t>
            </a:r>
            <a:endParaRPr lang="en-US" sz="1050" dirty="0"/>
          </a:p>
        </p:txBody>
      </p:sp>
      <p:pic>
        <p:nvPicPr>
          <p:cNvPr id="91" name="Image 21" descr="formula_imgs/f_weak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730096" y="6243828"/>
            <a:ext cx="1864403" cy="2209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高頻陷阱精選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994410"/>
          </a:xfrm>
          <a:prstGeom prst="roundRect">
            <a:avLst>
              <a:gd name="adj" fmla="val 7356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Zx 拿 Ix / c 去算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Ix/c 是彈性斷面模數 Sx。Zx 是 PNA（等面積軸）上下兩側面積對 PNA 的一次矩總和，計算過程完全用不到 Ix。非對稱斷面更要注意 ENA ≠ PNA。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994410"/>
          </a:xfrm>
          <a:prstGeom prst="roundRect">
            <a:avLst>
              <a:gd name="adj" fmla="val 7356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把殘留應力代進 Mp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Fr 只出現在 Mr = (Fy − Fr)Sx 與 Lr 的 FL = Fy − Fr。Mp = Fy·Zx 永遠與 Fr 無關 — 殘留應力在全斷面降伏後會自我抵銷。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60370"/>
            <a:ext cx="5408676" cy="994410"/>
          </a:xfrm>
          <a:prstGeom prst="roundRect">
            <a:avLst>
              <a:gd name="adj" fmla="val 7356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14325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14325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12496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忘記 Mn ≤ Mp 截頂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3646170"/>
            <a:ext cx="500634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非彈性與彈性區乘上 Cb 後很容易超過 Mp。Cb 抬的是曲線，天花板不會跟著抬，最後一定要削平。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2960370"/>
            <a:ext cx="5408676" cy="994410"/>
          </a:xfrm>
          <a:prstGeom prst="roundRect">
            <a:avLst>
              <a:gd name="adj" fmla="val 7356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14325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14325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12496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塑性區還去乘 Cb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3646170"/>
            <a:ext cx="500634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Lb ≤ Lp 時 Mn 已經等於 Mp，乘 Cb 沒有意義也不合規範。Cb 只作用在非彈性與彈性兩區。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229100"/>
            <a:ext cx="5408676" cy="994410"/>
          </a:xfrm>
          <a:prstGeom prst="roundRect">
            <a:avLst>
              <a:gd name="adj" fmla="val 7356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441198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4119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439369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寬厚比與剪力面積混用 d、h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4914900"/>
            <a:ext cx="500634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翼板 λf = bf/2tf、腹板 λw = h/tw 用的是淨高 h；剪力面積 Aw = d × tw 用的是全深 d。同一題兩個值都會出現。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4229100"/>
            <a:ext cx="5408676" cy="994410"/>
          </a:xfrm>
          <a:prstGeom prst="roundRect">
            <a:avLst>
              <a:gd name="adj" fmla="val 7356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441198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44119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439369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撓度用因數化載重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4914900"/>
            <a:ext cx="500634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使用性撓度必須用服務載重（未因數化）與彈性 Ix，絕不可用 1.2D + 1.6L。強度檢核才用因數化載重。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497830"/>
            <a:ext cx="5408676" cy="994410"/>
          </a:xfrm>
          <a:prstGeom prst="roundRect">
            <a:avLst>
              <a:gd name="adj" fmla="val 7356"/>
            </a:avLst>
          </a:prstGeom>
          <a:solidFill>
            <a:srgbClr val="2A3F5A"/>
          </a:solidFill>
          <a:ln/>
        </p:spPr>
      </p:sp>
      <p:sp>
        <p:nvSpPr>
          <p:cNvPr id="35" name="Shape 33"/>
          <p:cNvSpPr/>
          <p:nvPr/>
        </p:nvSpPr>
        <p:spPr>
          <a:xfrm>
            <a:off x="749808" y="568071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56807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88720" y="566242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弱軸還在算 Lb、Cb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49808" y="6183630"/>
            <a:ext cx="500634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弱軸受壓區要挫屈必須往更強的方向去，因此沒有 LTB，Mn 與 Lb 無關。但有矩形形狀因子上限 1.5·Fy·Sy。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31636" y="5497830"/>
            <a:ext cx="5408676" cy="994410"/>
          </a:xfrm>
          <a:prstGeom prst="roundRect">
            <a:avLst>
              <a:gd name="adj" fmla="val 7356"/>
            </a:avLst>
          </a:prstGeom>
          <a:solidFill>
            <a:srgbClr val="2A3F5A"/>
          </a:solidFill>
          <a:ln/>
        </p:spPr>
      </p:sp>
      <p:sp>
        <p:nvSpPr>
          <p:cNvPr id="40" name="Shape 38"/>
          <p:cNvSpPr/>
          <p:nvPr/>
        </p:nvSpPr>
        <p:spPr>
          <a:xfrm>
            <a:off x="6432804" y="568071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1" name="Text 39"/>
          <p:cNvSpPr/>
          <p:nvPr/>
        </p:nvSpPr>
        <p:spPr>
          <a:xfrm>
            <a:off x="6432804" y="56807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71716" y="566242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多側撐段用全梁 Mmax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432804" y="6183630"/>
            <a:ext cx="500634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每一段都要用該段自己的 Lb、Cb 算 φbMn，再跟該段自己的 Mu 比。控制段不一定是彎矩最大的那一段。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梁桿件｜重點回顧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一句話主線：斷面給本錢 Mp → 板件關卡（FLB） → 側撐關卡（LTB） → 截頂 × φb → 獨立檢核。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關卡一看「板的尺度」λf、λw；關卡二看「桿的尺度」Lb — 兩者都只會把 Mn 往下壓。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殘留應力 Fr 只動 Mr 與 Lr；Cb 只抬曲線不抬天花板；弱軸沒有 LTB 但有 1.5FySy 上限。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收尾一定要回頭補剪力（Aw = d×tw）與服務載重下的撓度（用 Ix）兩條獨立檢核線。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梁桿件觀念講義</dc:creator>
  <cp:lastModifiedBy>梁桿件觀念講義</cp:lastModifiedBy>
  <cp:revision>1</cp:revision>
  <dcterms:created xsi:type="dcterms:W3CDTF">2026-09-14T05:26:39Z</dcterms:created>
  <dcterms:modified xsi:type="dcterms:W3CDTF">2026-09-14T05:26:39Z</dcterms:modified>
</cp:coreProperties>
</file>